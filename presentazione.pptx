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23"/>
  </p:notesMasterIdLst>
  <p:sldIdLst>
    <p:sldId id="257" r:id="rId2"/>
    <p:sldId id="275" r:id="rId3"/>
    <p:sldId id="276" r:id="rId4"/>
    <p:sldId id="256" r:id="rId5"/>
    <p:sldId id="277" r:id="rId6"/>
    <p:sldId id="278" r:id="rId7"/>
    <p:sldId id="279" r:id="rId8"/>
    <p:sldId id="260" r:id="rId9"/>
    <p:sldId id="281" r:id="rId10"/>
    <p:sldId id="261" r:id="rId11"/>
    <p:sldId id="282" r:id="rId12"/>
    <p:sldId id="283" r:id="rId13"/>
    <p:sldId id="285" r:id="rId14"/>
    <p:sldId id="286" r:id="rId15"/>
    <p:sldId id="288" r:id="rId16"/>
    <p:sldId id="289" r:id="rId17"/>
    <p:sldId id="287" r:id="rId18"/>
    <p:sldId id="290" r:id="rId19"/>
    <p:sldId id="270" r:id="rId20"/>
    <p:sldId id="291"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EFF"/>
    <a:srgbClr val="D1A0B4"/>
    <a:srgbClr val="D14F7F"/>
    <a:srgbClr val="FF9B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Stile medio 4 - Color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Stile medio 4 - Color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Stile scuro 2 - Colore 3/Colore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Stile medio 1 - Color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83"/>
    <p:restoredTop sz="86449"/>
  </p:normalViewPr>
  <p:slideViewPr>
    <p:cSldViewPr snapToGrid="0">
      <p:cViewPr varScale="1">
        <p:scale>
          <a:sx n="54" d="100"/>
          <a:sy n="54" d="100"/>
        </p:scale>
        <p:origin x="240" y="880"/>
      </p:cViewPr>
      <p:guideLst/>
    </p:cSldViewPr>
  </p:slideViewPr>
  <p:outlineViewPr>
    <p:cViewPr>
      <p:scale>
        <a:sx n="33" d="100"/>
        <a:sy n="33" d="100"/>
      </p:scale>
      <p:origin x="0" y="-741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1F8F48-A66A-8143-95B6-816FBF75AB2A}" type="datetimeFigureOut">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696EC-50A3-F843-A56F-9E53AE9607B2}" type="slidenum">
              <a:rPr lang="it-IT" smtClean="0"/>
              <a:t>‹N›</a:t>
            </a:fld>
            <a:endParaRPr lang="it-IT"/>
          </a:p>
        </p:txBody>
      </p:sp>
    </p:spTree>
    <p:extLst>
      <p:ext uri="{BB962C8B-B14F-4D97-AF65-F5344CB8AC3E}">
        <p14:creationId xmlns:p14="http://schemas.microsoft.com/office/powerpoint/2010/main" val="7748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AE696EC-50A3-F843-A56F-9E53AE9607B2}" type="slidenum">
              <a:rPr lang="it-IT" smtClean="0"/>
              <a:t>8</a:t>
            </a:fld>
            <a:endParaRPr lang="it-IT"/>
          </a:p>
        </p:txBody>
      </p:sp>
    </p:spTree>
    <p:extLst>
      <p:ext uri="{BB962C8B-B14F-4D97-AF65-F5344CB8AC3E}">
        <p14:creationId xmlns:p14="http://schemas.microsoft.com/office/powerpoint/2010/main" val="2821990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AE696EC-50A3-F843-A56F-9E53AE9607B2}" type="slidenum">
              <a:rPr lang="it-IT" smtClean="0"/>
              <a:t>9</a:t>
            </a:fld>
            <a:endParaRPr lang="it-IT"/>
          </a:p>
        </p:txBody>
      </p:sp>
    </p:spTree>
    <p:extLst>
      <p:ext uri="{BB962C8B-B14F-4D97-AF65-F5344CB8AC3E}">
        <p14:creationId xmlns:p14="http://schemas.microsoft.com/office/powerpoint/2010/main" val="2765859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AE696EC-50A3-F843-A56F-9E53AE9607B2}" type="slidenum">
              <a:rPr lang="it-IT" smtClean="0"/>
              <a:t>15</a:t>
            </a:fld>
            <a:endParaRPr lang="it-IT"/>
          </a:p>
        </p:txBody>
      </p:sp>
    </p:spTree>
    <p:extLst>
      <p:ext uri="{BB962C8B-B14F-4D97-AF65-F5344CB8AC3E}">
        <p14:creationId xmlns:p14="http://schemas.microsoft.com/office/powerpoint/2010/main" val="3602759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AE696EC-50A3-F843-A56F-9E53AE9607B2}" type="slidenum">
              <a:rPr lang="it-IT" smtClean="0"/>
              <a:t>16</a:t>
            </a:fld>
            <a:endParaRPr lang="it-IT"/>
          </a:p>
        </p:txBody>
      </p:sp>
    </p:spTree>
    <p:extLst>
      <p:ext uri="{BB962C8B-B14F-4D97-AF65-F5344CB8AC3E}">
        <p14:creationId xmlns:p14="http://schemas.microsoft.com/office/powerpoint/2010/main" val="34628565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it-IT"/>
              <a:t>Fare clic per modificare lo stile del titolo dello schema</a:t>
            </a:r>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10/20/26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‹N›</a:t>
            </a:fld>
            <a:endParaRPr lang="en-US"/>
          </a:p>
        </p:txBody>
      </p:sp>
    </p:spTree>
    <p:extLst>
      <p:ext uri="{BB962C8B-B14F-4D97-AF65-F5344CB8AC3E}">
        <p14:creationId xmlns:p14="http://schemas.microsoft.com/office/powerpoint/2010/main" val="2344284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ut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16997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it-IT"/>
              <a:t>Fare clic per modificare lo stile del titolo dello schema</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10/20/26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‹N›</a:t>
            </a:fld>
            <a:endParaRPr lang="en-US" dirty="0"/>
          </a:p>
        </p:txBody>
      </p:sp>
    </p:spTree>
    <p:extLst>
      <p:ext uri="{BB962C8B-B14F-4D97-AF65-F5344CB8AC3E}">
        <p14:creationId xmlns:p14="http://schemas.microsoft.com/office/powerpoint/2010/main" val="22713280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it-IT"/>
              <a:t>Fare clic per modificare lo stile del titolo dello schema</a:t>
            </a:r>
            <a:endParaRPr lang="en-US"/>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it-IT"/>
              <a:t>Fare clic per modificare gli stili del testo dello schema</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10/20/26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‹N›</a:t>
            </a:fld>
            <a:endParaRPr lang="en-US" dirty="0"/>
          </a:p>
        </p:txBody>
      </p:sp>
    </p:spTree>
    <p:extLst>
      <p:ext uri="{BB962C8B-B14F-4D97-AF65-F5344CB8AC3E}">
        <p14:creationId xmlns:p14="http://schemas.microsoft.com/office/powerpoint/2010/main" val="4566606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Intestazione sezion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39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911781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10/20/26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‹N›</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4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67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it-IT"/>
              <a:t>Fare clic per modificare lo stile del titolo dello schema</a:t>
            </a:r>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10/20/26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‹N›</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233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it-IT"/>
              <a:t>Fare clic per modificare lo stile del titolo dello schema</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10/20/26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045954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it-IT"/>
              <a:t>Fare clic per modificare lo stile del titolo dello schema</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15144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it-IT"/>
              <a:t>Fare clic per modificare lo stile del titolo dello schema</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621296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it-IT"/>
              <a:t>Fare clic per modificare lo stile del titolo dello schema</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611819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it-IT"/>
              <a:t>Fare clic per modificare lo stile del titolo dello schema</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715171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it-IT"/>
              <a:t>Fare clic per modificare lo stile del titolo dello schema</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46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it-IT"/>
              <a:t>Fare clic per modificare lo stile del titolo dello schema</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30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it-IT"/>
              <a:t>Fare clic per modificare lo stile del titolo dello schema</a:t>
            </a:r>
            <a:endParaRPr lang="en-US"/>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10/20/26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‹N›</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414927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52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873031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4106920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it-IT"/>
              <a:t>Fare clic per modificare lo stile del titolo dello schema</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2548590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front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it-IT"/>
              <a:t>Fare clic per modificare lo stile del titolo dello schema</a:t>
            </a:r>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2869193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it-IT"/>
              <a:t>Fare clic per modificare lo stile del titolo dello schema</a:t>
            </a:r>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10/20/26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5285991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2920420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1257866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13334734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it-IT"/>
              <a:t>Fare clic per modificare lo stile del titolo dello schema</a:t>
            </a:r>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10/20/26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‹N›</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383068"/>
      </p:ext>
    </p:extLst>
  </p:cSld>
  <p:clrMap bg1="lt1" tx1="dk1" bg2="lt2" tx2="dk2" accent1="accent1" accent2="accent2" accent3="accent3" accent4="accent4" accent5="accent5" accent6="accent6" hlink="hlink" folHlink="folHlink"/>
  <p:sldLayoutIdLst>
    <p:sldLayoutId id="2147483764" r:id="rId1"/>
    <p:sldLayoutId id="2147483767" r:id="rId2"/>
    <p:sldLayoutId id="2147483957" r:id="rId3"/>
    <p:sldLayoutId id="2147483955" r:id="rId4"/>
    <p:sldLayoutId id="2147483765" r:id="rId5"/>
    <p:sldLayoutId id="2147483770" r:id="rId6"/>
    <p:sldLayoutId id="2147483954" r:id="rId7"/>
    <p:sldLayoutId id="2147483771" r:id="rId8"/>
    <p:sldLayoutId id="2147483774" r:id="rId9"/>
    <p:sldLayoutId id="2147483949" r:id="rId10"/>
    <p:sldLayoutId id="2147483775" r:id="rId11"/>
    <p:sldLayoutId id="2147483776" r:id="rId12"/>
    <p:sldLayoutId id="2147483778" r:id="rId13"/>
    <p:sldLayoutId id="2147483780" r:id="rId14"/>
    <p:sldLayoutId id="2147483782" r:id="rId15"/>
    <p:sldLayoutId id="2147483786" r:id="rId16"/>
    <p:sldLayoutId id="2147483791" r:id="rId17"/>
    <p:sldLayoutId id="2147483951" r:id="rId18"/>
    <p:sldLayoutId id="2147483792" r:id="rId19"/>
    <p:sldLayoutId id="2147483795" r:id="rId20"/>
    <p:sldLayoutId id="2147483798" r:id="rId21"/>
    <p:sldLayoutId id="2147483801" r:id="rId22"/>
    <p:sldLayoutId id="2147483802" r:id="rId23"/>
    <p:sldLayoutId id="2147483956" r:id="rId24"/>
    <p:sldLayoutId id="2147483804" r:id="rId25"/>
    <p:sldLayoutId id="2147483807" r:id="rId26"/>
    <p:sldLayoutId id="2147483934" r:id="rId27"/>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hyperlink" Target="https://ginevrasposato.github.io/adelphi-llm-catalogo/percorso_autrici.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nevrasposato.github.io/adelphi-llm-catalogo/catalogo_adelphi.html"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E7010D-3486-6C29-6C0D-A25CD0232AC9}"/>
              </a:ext>
            </a:extLst>
          </p:cNvPr>
          <p:cNvSpPr>
            <a:spLocks noGrp="1"/>
          </p:cNvSpPr>
          <p:nvPr>
            <p:ph type="title"/>
          </p:nvPr>
        </p:nvSpPr>
        <p:spPr/>
        <p:txBody>
          <a:bodyPr/>
          <a:lstStyle/>
          <a:p>
            <a:endParaRPr lang="it-IT" dirty="0"/>
          </a:p>
        </p:txBody>
      </p:sp>
      <p:sp>
        <p:nvSpPr>
          <p:cNvPr id="3" name="Segnaposto piè di pagina 2">
            <a:extLst>
              <a:ext uri="{FF2B5EF4-FFF2-40B4-BE49-F238E27FC236}">
                <a16:creationId xmlns:a16="http://schemas.microsoft.com/office/drawing/2014/main" id="{E3D833A3-7978-CE53-9FF2-A94F3864E212}"/>
              </a:ext>
            </a:extLst>
          </p:cNvPr>
          <p:cNvSpPr>
            <a:spLocks noGrp="1"/>
          </p:cNvSpPr>
          <p:nvPr>
            <p:ph type="ftr" sz="quarter" idx="11"/>
          </p:nvPr>
        </p:nvSpPr>
        <p:spPr/>
        <p:txBody>
          <a:bodyPr/>
          <a:lstStyle/>
          <a:p>
            <a:r>
              <a:rPr lang="en-US" dirty="0"/>
              <a:t>Ginevra Sposato</a:t>
            </a:r>
          </a:p>
        </p:txBody>
      </p:sp>
      <p:sp>
        <p:nvSpPr>
          <p:cNvPr id="4" name="Segnaposto contenuto 3">
            <a:extLst>
              <a:ext uri="{FF2B5EF4-FFF2-40B4-BE49-F238E27FC236}">
                <a16:creationId xmlns:a16="http://schemas.microsoft.com/office/drawing/2014/main" id="{FE2BC5D7-5F13-1CB4-8FC6-DEFFE41B27E4}"/>
              </a:ext>
            </a:extLst>
          </p:cNvPr>
          <p:cNvSpPr>
            <a:spLocks noGrp="1"/>
          </p:cNvSpPr>
          <p:nvPr>
            <p:ph sz="quarter" idx="13"/>
          </p:nvPr>
        </p:nvSpPr>
        <p:spPr>
          <a:xfrm>
            <a:off x="2624138" y="1815547"/>
            <a:ext cx="6943724" cy="4905927"/>
          </a:xfrm>
        </p:spPr>
        <p:txBody>
          <a:bodyPr/>
          <a:lstStyle/>
          <a:p>
            <a:r>
              <a:rPr lang="it-IT" b="1" dirty="0"/>
              <a:t>Un LLM alla prova su un catalogo editoriale:</a:t>
            </a:r>
          </a:p>
          <a:p>
            <a:r>
              <a:rPr lang="it-IT" b="1" dirty="0"/>
              <a:t> la Biblioteca Adelphi</a:t>
            </a:r>
            <a:endParaRPr lang="it-IT" dirty="0"/>
          </a:p>
          <a:p>
            <a:endParaRPr lang="it-IT" sz="2800" b="1" dirty="0"/>
          </a:p>
        </p:txBody>
      </p:sp>
      <p:sp>
        <p:nvSpPr>
          <p:cNvPr id="5" name="Segnaposto data 4">
            <a:extLst>
              <a:ext uri="{FF2B5EF4-FFF2-40B4-BE49-F238E27FC236}">
                <a16:creationId xmlns:a16="http://schemas.microsoft.com/office/drawing/2014/main" id="{3A3CBE55-D47A-02A3-AF04-A181C7743821}"/>
              </a:ext>
            </a:extLst>
          </p:cNvPr>
          <p:cNvSpPr>
            <a:spLocks noGrp="1"/>
          </p:cNvSpPr>
          <p:nvPr>
            <p:ph type="dt" sz="half" idx="10"/>
          </p:nvPr>
        </p:nvSpPr>
        <p:spPr>
          <a:xfrm rot="5400000">
            <a:off x="10005136" y="4266250"/>
            <a:ext cx="3548380" cy="365125"/>
          </a:xfrm>
        </p:spPr>
        <p:txBody>
          <a:bodyPr/>
          <a:lstStyle/>
          <a:p>
            <a:r>
              <a:rPr lang="en-US" dirty="0" err="1"/>
              <a:t>Tecnologie</a:t>
            </a:r>
            <a:r>
              <a:rPr lang="en-US" dirty="0"/>
              <a:t> </a:t>
            </a:r>
            <a:r>
              <a:rPr lang="en-US" dirty="0" err="1"/>
              <a:t>dei</a:t>
            </a:r>
            <a:r>
              <a:rPr lang="en-US" dirty="0"/>
              <a:t> </a:t>
            </a:r>
            <a:r>
              <a:rPr lang="en-US" dirty="0" err="1"/>
              <a:t>dati</a:t>
            </a:r>
            <a:r>
              <a:rPr lang="en-US" dirty="0"/>
              <a:t> e del </a:t>
            </a:r>
            <a:r>
              <a:rPr lang="en-US" dirty="0" err="1"/>
              <a:t>linguaggio</a:t>
            </a:r>
            <a:r>
              <a:rPr lang="en-US" dirty="0"/>
              <a:t> - Prof. Ferrara </a:t>
            </a:r>
          </a:p>
        </p:txBody>
      </p:sp>
      <p:sp>
        <p:nvSpPr>
          <p:cNvPr id="6" name="Segnaposto numero diapositiva 5">
            <a:extLst>
              <a:ext uri="{FF2B5EF4-FFF2-40B4-BE49-F238E27FC236}">
                <a16:creationId xmlns:a16="http://schemas.microsoft.com/office/drawing/2014/main" id="{2CB0F02E-B7EE-6B38-1B14-8565046F0238}"/>
              </a:ext>
            </a:extLst>
          </p:cNvPr>
          <p:cNvSpPr>
            <a:spLocks noGrp="1"/>
          </p:cNvSpPr>
          <p:nvPr>
            <p:ph type="sldNum" sz="quarter" idx="12"/>
          </p:nvPr>
        </p:nvSpPr>
        <p:spPr/>
        <p:txBody>
          <a:bodyPr/>
          <a:lstStyle/>
          <a:p>
            <a:fld id="{CC057153-B650-4DEB-B370-79DDCFDCE934}" type="slidenum">
              <a:rPr lang="en-US" smtClean="0"/>
              <a:pPr/>
              <a:t>1</a:t>
            </a:fld>
            <a:endParaRPr lang="en-US"/>
          </a:p>
        </p:txBody>
      </p:sp>
    </p:spTree>
    <p:extLst>
      <p:ext uri="{BB962C8B-B14F-4D97-AF65-F5344CB8AC3E}">
        <p14:creationId xmlns:p14="http://schemas.microsoft.com/office/powerpoint/2010/main" val="265507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BFB10D-6A77-39E8-D96B-EB2D7B7CE72E}"/>
              </a:ext>
            </a:extLst>
          </p:cNvPr>
          <p:cNvSpPr>
            <a:spLocks noGrp="1"/>
          </p:cNvSpPr>
          <p:nvPr>
            <p:ph type="title"/>
          </p:nvPr>
        </p:nvSpPr>
        <p:spPr>
          <a:xfrm>
            <a:off x="5303520" y="548640"/>
            <a:ext cx="6093225" cy="1143000"/>
          </a:xfrm>
        </p:spPr>
        <p:txBody>
          <a:bodyPr anchor="b">
            <a:normAutofit/>
          </a:bodyPr>
          <a:lstStyle/>
          <a:p>
            <a:pPr algn="ctr"/>
            <a:r>
              <a:rPr lang="it-IT" b="1" u="sng" dirty="0"/>
              <a:t>Domanda di ricerca:</a:t>
            </a:r>
            <a:br>
              <a:rPr lang="it-IT" b="1" u="sng" dirty="0"/>
            </a:br>
            <a:endParaRPr lang="it-IT" b="1" u="sng" dirty="0"/>
          </a:p>
        </p:txBody>
      </p:sp>
      <p:pic>
        <p:nvPicPr>
          <p:cNvPr id="9" name="Segnaposto immagine 8">
            <a:extLst>
              <a:ext uri="{FF2B5EF4-FFF2-40B4-BE49-F238E27FC236}">
                <a16:creationId xmlns:a16="http://schemas.microsoft.com/office/drawing/2014/main" id="{8401B6BC-4FBE-43D6-4502-2E9A8BB79D8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104" r="3" b="2408"/>
          <a:stretch>
            <a:fillRect/>
          </a:stretch>
        </p:blipFill>
        <p:spPr>
          <a:xfrm>
            <a:off x="20" y="1"/>
            <a:ext cx="4793865" cy="6858000"/>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noFill/>
          <a:ln w="6350">
            <a:noFill/>
          </a:ln>
        </p:spPr>
      </p:pic>
      <p:sp>
        <p:nvSpPr>
          <p:cNvPr id="3" name="Sottotitolo 2">
            <a:extLst>
              <a:ext uri="{FF2B5EF4-FFF2-40B4-BE49-F238E27FC236}">
                <a16:creationId xmlns:a16="http://schemas.microsoft.com/office/drawing/2014/main" id="{F5532990-262D-7664-B5F7-5F6F1E0193EF}"/>
              </a:ext>
            </a:extLst>
          </p:cNvPr>
          <p:cNvSpPr>
            <a:spLocks noGrp="1"/>
          </p:cNvSpPr>
          <p:nvPr>
            <p:ph sz="quarter" idx="14"/>
          </p:nvPr>
        </p:nvSpPr>
        <p:spPr>
          <a:xfrm>
            <a:off x="5303520" y="1828800"/>
            <a:ext cx="6071616" cy="4489704"/>
          </a:xfrm>
        </p:spPr>
        <p:txBody>
          <a:bodyPr>
            <a:normAutofit/>
          </a:bodyPr>
          <a:lstStyle/>
          <a:p>
            <a:pPr algn="just"/>
            <a:r>
              <a:rPr lang="it-IT" sz="3600" i="1" dirty="0"/>
              <a:t>Un LLM, partendo dalle descrizioni, può classificare in modo affidabile genere e temi dei volumi di un catalogo editoriale?</a:t>
            </a:r>
          </a:p>
          <a:p>
            <a:pPr algn="just"/>
            <a:r>
              <a:rPr lang="it-IT" sz="3600" i="1" dirty="0"/>
              <a:t>E cosa mostra il catalogo Adelphi così arricchito?</a:t>
            </a:r>
            <a:endParaRPr lang="it-IT" sz="3600" dirty="0"/>
          </a:p>
        </p:txBody>
      </p:sp>
      <p:sp>
        <p:nvSpPr>
          <p:cNvPr id="7" name="Segnaposto numero diapositiva 6">
            <a:extLst>
              <a:ext uri="{FF2B5EF4-FFF2-40B4-BE49-F238E27FC236}">
                <a16:creationId xmlns:a16="http://schemas.microsoft.com/office/drawing/2014/main" id="{C06BCF40-40D9-F57F-AE56-90757AA1C69E}"/>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2</a:t>
            </a:fld>
            <a:endParaRPr lang="en-US"/>
          </a:p>
        </p:txBody>
      </p:sp>
    </p:spTree>
    <p:extLst>
      <p:ext uri="{BB962C8B-B14F-4D97-AF65-F5344CB8AC3E}">
        <p14:creationId xmlns:p14="http://schemas.microsoft.com/office/powerpoint/2010/main" val="1170246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CE2873-E328-D907-FB84-10352049A004}"/>
              </a:ext>
            </a:extLst>
          </p:cNvPr>
          <p:cNvSpPr>
            <a:spLocks noGrp="1"/>
          </p:cNvSpPr>
          <p:nvPr>
            <p:ph type="title"/>
          </p:nvPr>
        </p:nvSpPr>
        <p:spPr/>
        <p:txBody>
          <a:bodyPr/>
          <a:lstStyle/>
          <a:p>
            <a:pPr algn="ctr"/>
            <a:r>
              <a:rPr lang="it-IT" dirty="0"/>
              <a:t>LE IPOTESI</a:t>
            </a:r>
          </a:p>
        </p:txBody>
      </p:sp>
      <p:sp>
        <p:nvSpPr>
          <p:cNvPr id="3" name="Segnaposto piè di pagina 2">
            <a:extLst>
              <a:ext uri="{FF2B5EF4-FFF2-40B4-BE49-F238E27FC236}">
                <a16:creationId xmlns:a16="http://schemas.microsoft.com/office/drawing/2014/main" id="{A41DE50D-22FB-DD06-A418-D5F8F41EC04B}"/>
              </a:ext>
            </a:extLst>
          </p:cNvPr>
          <p:cNvSpPr>
            <a:spLocks noGrp="1"/>
          </p:cNvSpPr>
          <p:nvPr>
            <p:ph type="ftr" sz="quarter" idx="11"/>
          </p:nvPr>
        </p:nvSpPr>
        <p:spPr/>
        <p:txBody>
          <a:bodyPr/>
          <a:lstStyle/>
          <a:p>
            <a:endParaRPr lang="en-US" dirty="0"/>
          </a:p>
        </p:txBody>
      </p:sp>
      <p:sp>
        <p:nvSpPr>
          <p:cNvPr id="4" name="Segnaposto contenuto 3">
            <a:extLst>
              <a:ext uri="{FF2B5EF4-FFF2-40B4-BE49-F238E27FC236}">
                <a16:creationId xmlns:a16="http://schemas.microsoft.com/office/drawing/2014/main" id="{AAA5CB7B-DF00-375C-8F27-7D3EAB43B00C}"/>
              </a:ext>
            </a:extLst>
          </p:cNvPr>
          <p:cNvSpPr>
            <a:spLocks noGrp="1"/>
          </p:cNvSpPr>
          <p:nvPr>
            <p:ph idx="1"/>
          </p:nvPr>
        </p:nvSpPr>
        <p:spPr/>
        <p:txBody>
          <a:bodyPr/>
          <a:lstStyle/>
          <a:p>
            <a:endParaRPr lang="it-IT" dirty="0"/>
          </a:p>
          <a:p>
            <a:pPr algn="just"/>
            <a:r>
              <a:rPr lang="it-IT" sz="3200" b="1" dirty="0">
                <a:solidFill>
                  <a:srgbClr val="0070C0"/>
                </a:solidFill>
              </a:rPr>
              <a:t>H1: </a:t>
            </a:r>
            <a:r>
              <a:rPr lang="it-IT" sz="3200" dirty="0"/>
              <a:t>I temi assegnati dal modello sono più affidabili del genere</a:t>
            </a:r>
          </a:p>
          <a:p>
            <a:pPr algn="just"/>
            <a:endParaRPr lang="it-IT" sz="3200" dirty="0"/>
          </a:p>
          <a:p>
            <a:pPr algn="just"/>
            <a:r>
              <a:rPr lang="it-IT" sz="3200" b="1" dirty="0">
                <a:solidFill>
                  <a:srgbClr val="0070C0"/>
                </a:solidFill>
              </a:rPr>
              <a:t>H2: </a:t>
            </a:r>
            <a:r>
              <a:rPr lang="it-IT" sz="3200" dirty="0"/>
              <a:t>Le donne sono molto meno presenti come autrici che come curatrici e traduttrici</a:t>
            </a:r>
          </a:p>
          <a:p>
            <a:pPr algn="just"/>
            <a:endParaRPr lang="it-IT" sz="3200" dirty="0"/>
          </a:p>
          <a:p>
            <a:pPr algn="just"/>
            <a:r>
              <a:rPr lang="it-IT" sz="3200" b="1" dirty="0">
                <a:solidFill>
                  <a:srgbClr val="0070C0"/>
                </a:solidFill>
              </a:rPr>
              <a:t>H3: </a:t>
            </a:r>
            <a:r>
              <a:rPr lang="it-IT" sz="3200" dirty="0"/>
              <a:t>La distanza tra la nascita dell’autore e l’edizione cresce nel tempo</a:t>
            </a:r>
          </a:p>
        </p:txBody>
      </p:sp>
      <p:sp>
        <p:nvSpPr>
          <p:cNvPr id="5" name="Segnaposto data 4">
            <a:extLst>
              <a:ext uri="{FF2B5EF4-FFF2-40B4-BE49-F238E27FC236}">
                <a16:creationId xmlns:a16="http://schemas.microsoft.com/office/drawing/2014/main" id="{FA2AE6F3-22A9-534A-C392-A727D4D25621}"/>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BC7157D5-EEEB-695C-5DBF-B02E0C6BE12A}"/>
              </a:ext>
            </a:extLst>
          </p:cNvPr>
          <p:cNvSpPr>
            <a:spLocks noGrp="1"/>
          </p:cNvSpPr>
          <p:nvPr>
            <p:ph type="sldNum" sz="quarter" idx="12"/>
          </p:nvPr>
        </p:nvSpPr>
        <p:spPr/>
        <p:txBody>
          <a:bodyPr/>
          <a:lstStyle/>
          <a:p>
            <a:fld id="{CC057153-B650-4DEB-B370-79DDCFDCE934}" type="slidenum">
              <a:rPr lang="en-US" smtClean="0"/>
              <a:pPr/>
              <a:t>3</a:t>
            </a:fld>
            <a:endParaRPr lang="en-US"/>
          </a:p>
        </p:txBody>
      </p:sp>
    </p:spTree>
    <p:extLst>
      <p:ext uri="{BB962C8B-B14F-4D97-AF65-F5344CB8AC3E}">
        <p14:creationId xmlns:p14="http://schemas.microsoft.com/office/powerpoint/2010/main" val="105875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FE0887-0533-AC24-8E1D-03CA931CFBF5}"/>
              </a:ext>
            </a:extLst>
          </p:cNvPr>
          <p:cNvSpPr>
            <a:spLocks noGrp="1"/>
          </p:cNvSpPr>
          <p:nvPr>
            <p:ph type="title"/>
          </p:nvPr>
        </p:nvSpPr>
        <p:spPr>
          <a:xfrm>
            <a:off x="5206701" y="288758"/>
            <a:ext cx="6390061" cy="677497"/>
          </a:xfrm>
        </p:spPr>
        <p:txBody>
          <a:bodyPr>
            <a:normAutofit fontScale="90000"/>
          </a:bodyPr>
          <a:lstStyle/>
          <a:p>
            <a:pPr algn="ctr"/>
            <a:r>
              <a:rPr lang="it-IT" sz="3600" b="1" dirty="0"/>
              <a:t>MA Perché PROPRIO </a:t>
            </a:r>
            <a:r>
              <a:rPr lang="it-IT" sz="3600" b="1" dirty="0" err="1"/>
              <a:t>adelphi</a:t>
            </a:r>
            <a:r>
              <a:rPr lang="it-IT" sz="3600" b="1" dirty="0"/>
              <a:t>? </a:t>
            </a:r>
          </a:p>
        </p:txBody>
      </p:sp>
      <p:sp>
        <p:nvSpPr>
          <p:cNvPr id="3" name="Sottotitolo 2">
            <a:extLst>
              <a:ext uri="{FF2B5EF4-FFF2-40B4-BE49-F238E27FC236}">
                <a16:creationId xmlns:a16="http://schemas.microsoft.com/office/drawing/2014/main" id="{E218BF1C-8FA9-F6BB-5D3E-998BB8F1ED29}"/>
              </a:ext>
            </a:extLst>
          </p:cNvPr>
          <p:cNvSpPr>
            <a:spLocks noGrp="1"/>
          </p:cNvSpPr>
          <p:nvPr>
            <p:ph type="subTitle" idx="1"/>
          </p:nvPr>
        </p:nvSpPr>
        <p:spPr>
          <a:xfrm>
            <a:off x="5206701" y="1099602"/>
            <a:ext cx="6390061" cy="5103984"/>
          </a:xfrm>
        </p:spPr>
        <p:txBody>
          <a:bodyPr>
            <a:normAutofit fontScale="92500" lnSpcReduction="10000"/>
          </a:bodyPr>
          <a:lstStyle/>
          <a:p>
            <a:pPr algn="ctr"/>
            <a:endParaRPr lang="it-IT" dirty="0"/>
          </a:p>
          <a:p>
            <a:pPr algn="ctr"/>
            <a:r>
              <a:rPr lang="it-IT" b="1" dirty="0"/>
              <a:t>Adelphi è </a:t>
            </a:r>
            <a:r>
              <a:rPr lang="it-IT" b="1" u="sng" dirty="0"/>
              <a:t>cultura e prestigio</a:t>
            </a:r>
          </a:p>
          <a:p>
            <a:pPr algn="ctr"/>
            <a:endParaRPr lang="it-IT" b="1" dirty="0"/>
          </a:p>
          <a:p>
            <a:pPr algn="ctr"/>
            <a:r>
              <a:rPr lang="it-IT" b="1" dirty="0"/>
              <a:t>Adelphi è un’</a:t>
            </a:r>
            <a:r>
              <a:rPr lang="it-IT" b="1" u="sng" dirty="0"/>
              <a:t>eccezione unica</a:t>
            </a:r>
          </a:p>
          <a:p>
            <a:pPr algn="ctr"/>
            <a:endParaRPr lang="it-IT" b="1" u="sng" dirty="0"/>
          </a:p>
          <a:p>
            <a:pPr algn="ctr"/>
            <a:r>
              <a:rPr lang="it-IT" b="1" dirty="0"/>
              <a:t>Adelphi è </a:t>
            </a:r>
            <a:r>
              <a:rPr lang="it-IT" dirty="0"/>
              <a:t>stata una </a:t>
            </a:r>
            <a:r>
              <a:rPr lang="it-IT" b="1" u="sng" dirty="0"/>
              <a:t>rottura culturale nell’editoria</a:t>
            </a:r>
          </a:p>
          <a:p>
            <a:pPr algn="ctr"/>
            <a:endParaRPr lang="it-IT" b="1" u="sng" dirty="0"/>
          </a:p>
          <a:p>
            <a:pPr algn="ctr"/>
            <a:r>
              <a:rPr lang="it-IT" b="1" dirty="0"/>
              <a:t>Adelphi </a:t>
            </a:r>
            <a:r>
              <a:rPr lang="it-IT" b="1" u="sng" dirty="0"/>
              <a:t>è indipendente e controcorrente </a:t>
            </a:r>
          </a:p>
          <a:p>
            <a:pPr algn="ctr"/>
            <a:endParaRPr lang="it-IT" dirty="0"/>
          </a:p>
          <a:p>
            <a:pPr algn="ctr"/>
            <a:r>
              <a:rPr lang="it-IT" b="1" dirty="0"/>
              <a:t>Adelphi è </a:t>
            </a:r>
            <a:r>
              <a:rPr lang="it-IT" b="1" u="sng" dirty="0"/>
              <a:t>aperta all’umano e all’umanistico</a:t>
            </a:r>
          </a:p>
          <a:p>
            <a:pPr algn="ctr"/>
            <a:endParaRPr lang="it-IT" b="1" u="sng" dirty="0"/>
          </a:p>
          <a:p>
            <a:pPr algn="ctr"/>
            <a:r>
              <a:rPr lang="it-IT" dirty="0"/>
              <a:t>Adelphi ha un </a:t>
            </a:r>
            <a:r>
              <a:rPr lang="it-IT" b="1" u="sng" dirty="0"/>
              <a:t>catalogo complesso ed elitario</a:t>
            </a:r>
          </a:p>
          <a:p>
            <a:pPr algn="ctr"/>
            <a:endParaRPr lang="it-IT" b="1" dirty="0"/>
          </a:p>
        </p:txBody>
      </p:sp>
      <p:sp>
        <p:nvSpPr>
          <p:cNvPr id="4" name="Segnaposto piè di pagina 3">
            <a:extLst>
              <a:ext uri="{FF2B5EF4-FFF2-40B4-BE49-F238E27FC236}">
                <a16:creationId xmlns:a16="http://schemas.microsoft.com/office/drawing/2014/main" id="{36BFF1B2-CD75-8C94-EEF7-8DEECB660C4B}"/>
              </a:ext>
            </a:extLst>
          </p:cNvPr>
          <p:cNvSpPr>
            <a:spLocks noGrp="1"/>
          </p:cNvSpPr>
          <p:nvPr>
            <p:ph type="ftr" sz="quarter" idx="15"/>
          </p:nvPr>
        </p:nvSpPr>
        <p:spPr/>
        <p:txBody>
          <a:bodyPr/>
          <a:lstStyle/>
          <a:p>
            <a:r>
              <a:rPr lang="en-US" dirty="0"/>
              <a:t>Ginevra Sposato </a:t>
            </a:r>
          </a:p>
        </p:txBody>
      </p:sp>
      <p:pic>
        <p:nvPicPr>
          <p:cNvPr id="9" name="Segnaposto immagine 8">
            <a:extLst>
              <a:ext uri="{FF2B5EF4-FFF2-40B4-BE49-F238E27FC236}">
                <a16:creationId xmlns:a16="http://schemas.microsoft.com/office/drawing/2014/main" id="{7639ACB7-C5A3-09CD-0377-BC04237A9C0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337" b="1337"/>
          <a:stretch>
            <a:fillRect/>
          </a:stretch>
        </p:blipFill>
        <p:spPr>
          <a:xfrm>
            <a:off x="230111" y="966255"/>
            <a:ext cx="4718407"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3">
              <a:alphaModFix amt="70000"/>
              <a:extLst>
                <a:ext uri="{28A0092B-C50C-407E-A947-70E740481C1C}">
                  <a14:useLocalDpi xmlns:a14="http://schemas.microsoft.com/office/drawing/2010/main" val="0"/>
                </a:ext>
              </a:extLst>
            </a:blip>
            <a:stretch>
              <a:fillRect/>
            </a:stretch>
          </a:blipFill>
          <a:ln w="6350">
            <a:noFill/>
          </a:ln>
        </p:spPr>
      </p:pic>
      <p:sp>
        <p:nvSpPr>
          <p:cNvPr id="6" name="Segnaposto data 5">
            <a:extLst>
              <a:ext uri="{FF2B5EF4-FFF2-40B4-BE49-F238E27FC236}">
                <a16:creationId xmlns:a16="http://schemas.microsoft.com/office/drawing/2014/main" id="{D2AADD17-8AB9-5953-25A7-999CC7DB2C96}"/>
              </a:ext>
            </a:extLst>
          </p:cNvPr>
          <p:cNvSpPr>
            <a:spLocks noGrp="1"/>
          </p:cNvSpPr>
          <p:nvPr>
            <p:ph type="dt" sz="half" idx="10"/>
          </p:nvPr>
        </p:nvSpPr>
        <p:spPr>
          <a:xfrm rot="5400000">
            <a:off x="10298966" y="4560080"/>
            <a:ext cx="2960720" cy="365125"/>
          </a:xfrm>
        </p:spPr>
        <p:txBody>
          <a:bodyPr/>
          <a:lstStyle/>
          <a:p>
            <a:r>
              <a:rPr lang="en-US" dirty="0" err="1"/>
              <a:t>Tecnologie</a:t>
            </a:r>
            <a:r>
              <a:rPr lang="en-US" dirty="0"/>
              <a:t> </a:t>
            </a:r>
            <a:r>
              <a:rPr lang="en-US" dirty="0" err="1"/>
              <a:t>dei</a:t>
            </a:r>
            <a:r>
              <a:rPr lang="en-US" dirty="0"/>
              <a:t> </a:t>
            </a:r>
            <a:r>
              <a:rPr lang="en-US" dirty="0" err="1"/>
              <a:t>dati</a:t>
            </a:r>
            <a:r>
              <a:rPr lang="en-US" dirty="0"/>
              <a:t> e del </a:t>
            </a:r>
            <a:r>
              <a:rPr lang="en-US" dirty="0" err="1"/>
              <a:t>linguaggio</a:t>
            </a:r>
            <a:r>
              <a:rPr lang="en-US" dirty="0"/>
              <a:t> - Prof. Ferrara </a:t>
            </a:r>
          </a:p>
          <a:p>
            <a:endParaRPr lang="en-US" dirty="0"/>
          </a:p>
        </p:txBody>
      </p:sp>
      <p:sp>
        <p:nvSpPr>
          <p:cNvPr id="7" name="Segnaposto numero diapositiva 6">
            <a:extLst>
              <a:ext uri="{FF2B5EF4-FFF2-40B4-BE49-F238E27FC236}">
                <a16:creationId xmlns:a16="http://schemas.microsoft.com/office/drawing/2014/main" id="{9CAE10D5-4295-8A7C-193B-0FC0F22E24AE}"/>
              </a:ext>
            </a:extLst>
          </p:cNvPr>
          <p:cNvSpPr>
            <a:spLocks noGrp="1"/>
          </p:cNvSpPr>
          <p:nvPr>
            <p:ph type="sldNum" sz="quarter" idx="16"/>
          </p:nvPr>
        </p:nvSpPr>
        <p:spPr/>
        <p:txBody>
          <a:bodyPr/>
          <a:lstStyle/>
          <a:p>
            <a:fld id="{2DE90F28-AFBB-4AB2-AA79-6D3F72ED131B}" type="slidenum">
              <a:rPr lang="en-US" smtClean="0"/>
              <a:pPr/>
              <a:t>4</a:t>
            </a:fld>
            <a:endParaRPr lang="en-US"/>
          </a:p>
        </p:txBody>
      </p:sp>
    </p:spTree>
    <p:extLst>
      <p:ext uri="{BB962C8B-B14F-4D97-AF65-F5344CB8AC3E}">
        <p14:creationId xmlns:p14="http://schemas.microsoft.com/office/powerpoint/2010/main" val="275156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04371B-0939-6700-1EEE-207AE75F4B69}"/>
              </a:ext>
            </a:extLst>
          </p:cNvPr>
          <p:cNvSpPr>
            <a:spLocks noGrp="1"/>
          </p:cNvSpPr>
          <p:nvPr>
            <p:ph type="title"/>
          </p:nvPr>
        </p:nvSpPr>
        <p:spPr/>
        <p:txBody>
          <a:bodyPr/>
          <a:lstStyle/>
          <a:p>
            <a:pPr algn="ctr"/>
            <a:r>
              <a:rPr lang="it-IT" dirty="0"/>
              <a:t>costruendo…</a:t>
            </a:r>
          </a:p>
        </p:txBody>
      </p:sp>
      <p:sp>
        <p:nvSpPr>
          <p:cNvPr id="3" name="Segnaposto piè di pagina 2">
            <a:extLst>
              <a:ext uri="{FF2B5EF4-FFF2-40B4-BE49-F238E27FC236}">
                <a16:creationId xmlns:a16="http://schemas.microsoft.com/office/drawing/2014/main" id="{1885F9A6-8002-A599-8073-33EA57ADD63F}"/>
              </a:ext>
            </a:extLst>
          </p:cNvPr>
          <p:cNvSpPr>
            <a:spLocks noGrp="1"/>
          </p:cNvSpPr>
          <p:nvPr>
            <p:ph type="ftr" sz="quarter" idx="11"/>
          </p:nvPr>
        </p:nvSpPr>
        <p:spPr/>
        <p:txBody>
          <a:bodyPr/>
          <a:lstStyle/>
          <a:p>
            <a:endParaRPr lang="en-US" dirty="0"/>
          </a:p>
        </p:txBody>
      </p:sp>
      <p:sp>
        <p:nvSpPr>
          <p:cNvPr id="4" name="Segnaposto testo 3">
            <a:extLst>
              <a:ext uri="{FF2B5EF4-FFF2-40B4-BE49-F238E27FC236}">
                <a16:creationId xmlns:a16="http://schemas.microsoft.com/office/drawing/2014/main" id="{CC0B1753-C502-BAD0-8253-774607770CF1}"/>
              </a:ext>
            </a:extLst>
          </p:cNvPr>
          <p:cNvSpPr>
            <a:spLocks noGrp="1"/>
          </p:cNvSpPr>
          <p:nvPr>
            <p:ph type="body" idx="1"/>
          </p:nvPr>
        </p:nvSpPr>
        <p:spPr/>
        <p:txBody>
          <a:bodyPr/>
          <a:lstStyle/>
          <a:p>
            <a:pPr algn="ctr"/>
            <a:r>
              <a:rPr lang="it-IT" b="1" u="sng" dirty="0"/>
              <a:t>Le 6 fasi del progetto</a:t>
            </a:r>
          </a:p>
        </p:txBody>
      </p:sp>
      <p:sp>
        <p:nvSpPr>
          <p:cNvPr id="5" name="Segnaposto contenuto 4">
            <a:extLst>
              <a:ext uri="{FF2B5EF4-FFF2-40B4-BE49-F238E27FC236}">
                <a16:creationId xmlns:a16="http://schemas.microsoft.com/office/drawing/2014/main" id="{36383AD2-001D-61F7-6BF5-47F77EADAFCE}"/>
              </a:ext>
            </a:extLst>
          </p:cNvPr>
          <p:cNvSpPr>
            <a:spLocks noGrp="1"/>
          </p:cNvSpPr>
          <p:nvPr>
            <p:ph sz="quarter" idx="15"/>
          </p:nvPr>
        </p:nvSpPr>
        <p:spPr/>
        <p:txBody>
          <a:bodyPr>
            <a:normAutofit/>
          </a:bodyPr>
          <a:lstStyle/>
          <a:p>
            <a:pPr marL="342900" indent="-342900" algn="just">
              <a:buFont typeface="Arial" panose="020B0604020202020204" pitchFamily="34" charset="0"/>
              <a:buAutoNum type="arabicPeriod"/>
            </a:pPr>
            <a:r>
              <a:rPr lang="it-IT" sz="2000" dirty="0"/>
              <a:t>Raccolta con </a:t>
            </a:r>
            <a:r>
              <a:rPr lang="it-IT" sz="2000" dirty="0" err="1"/>
              <a:t>scraping</a:t>
            </a:r>
            <a:r>
              <a:rPr lang="it-IT" sz="2000" dirty="0"/>
              <a:t> del catalogo Adelphi (792 volumi)</a:t>
            </a:r>
          </a:p>
          <a:p>
            <a:pPr marL="342900" indent="-342900" algn="just">
              <a:buFont typeface="Arial" panose="020B0604020202020204" pitchFamily="34" charset="0"/>
              <a:buAutoNum type="arabicPeriod"/>
            </a:pPr>
            <a:r>
              <a:rPr lang="it-IT" sz="2000" dirty="0"/>
              <a:t>Pulizia e normalizzazione dei dati</a:t>
            </a:r>
          </a:p>
          <a:p>
            <a:pPr marL="342900" indent="-342900" algn="just">
              <a:buFont typeface="Arial" panose="020B0604020202020204" pitchFamily="34" charset="0"/>
              <a:buAutoNum type="arabicPeriod"/>
            </a:pPr>
            <a:r>
              <a:rPr lang="it-IT" sz="2000" dirty="0"/>
              <a:t>Arricchimento biografico di 275 autori tramite Wikipedia </a:t>
            </a:r>
          </a:p>
          <a:p>
            <a:pPr marL="342900" indent="-342900" algn="just">
              <a:buFont typeface="Arial" panose="020B0604020202020204" pitchFamily="34" charset="0"/>
              <a:buAutoNum type="arabicPeriod"/>
            </a:pPr>
            <a:r>
              <a:rPr lang="it-IT" sz="2000" dirty="0"/>
              <a:t>Classificazione di genere e temi con un modello linguistico, verificata a campione</a:t>
            </a:r>
          </a:p>
          <a:p>
            <a:pPr marL="342900" indent="-342900" algn="just">
              <a:buFont typeface="Arial" panose="020B0604020202020204" pitchFamily="34" charset="0"/>
              <a:buAutoNum type="arabicPeriod"/>
            </a:pPr>
            <a:r>
              <a:rPr lang="it-IT" sz="2000" dirty="0"/>
              <a:t>Analisi: le tre ipotesi H1-H2-H3</a:t>
            </a:r>
          </a:p>
          <a:p>
            <a:pPr marL="342900" indent="-342900" algn="just">
              <a:buFont typeface="Arial" panose="020B0604020202020204" pitchFamily="34" charset="0"/>
              <a:buAutoNum type="arabicPeriod"/>
            </a:pPr>
            <a:r>
              <a:rPr lang="it-IT" sz="2000" dirty="0"/>
              <a:t>Sintesi finale in un report HTML consultabile </a:t>
            </a:r>
          </a:p>
          <a:p>
            <a:endParaRPr lang="it-IT" sz="2000" dirty="0"/>
          </a:p>
        </p:txBody>
      </p:sp>
      <p:sp>
        <p:nvSpPr>
          <p:cNvPr id="6" name="Segnaposto testo 5">
            <a:extLst>
              <a:ext uri="{FF2B5EF4-FFF2-40B4-BE49-F238E27FC236}">
                <a16:creationId xmlns:a16="http://schemas.microsoft.com/office/drawing/2014/main" id="{E0B62D8C-09FE-158F-0D99-3AED05CEC363}"/>
              </a:ext>
            </a:extLst>
          </p:cNvPr>
          <p:cNvSpPr>
            <a:spLocks noGrp="1"/>
          </p:cNvSpPr>
          <p:nvPr>
            <p:ph type="body" sz="quarter" idx="3"/>
          </p:nvPr>
        </p:nvSpPr>
        <p:spPr>
          <a:xfrm>
            <a:off x="6095999" y="2103120"/>
            <a:ext cx="5767137" cy="559834"/>
          </a:xfrm>
        </p:spPr>
        <p:txBody>
          <a:bodyPr>
            <a:normAutofit fontScale="92500"/>
          </a:bodyPr>
          <a:lstStyle/>
          <a:p>
            <a:r>
              <a:rPr lang="it-IT" b="1" u="sng" dirty="0"/>
              <a:t>ADATTAMENTI: DALLA DISPENSA AL MIO CASO</a:t>
            </a:r>
          </a:p>
        </p:txBody>
      </p:sp>
      <p:sp>
        <p:nvSpPr>
          <p:cNvPr id="7" name="Segnaposto contenuto 6">
            <a:extLst>
              <a:ext uri="{FF2B5EF4-FFF2-40B4-BE49-F238E27FC236}">
                <a16:creationId xmlns:a16="http://schemas.microsoft.com/office/drawing/2014/main" id="{F62A7D82-77D3-C712-3BF9-D71BAB83C91A}"/>
              </a:ext>
            </a:extLst>
          </p:cNvPr>
          <p:cNvSpPr>
            <a:spLocks noGrp="1"/>
          </p:cNvSpPr>
          <p:nvPr>
            <p:ph sz="quarter" idx="16"/>
          </p:nvPr>
        </p:nvSpPr>
        <p:spPr>
          <a:xfrm>
            <a:off x="6161434" y="2743200"/>
            <a:ext cx="5331115" cy="3763963"/>
          </a:xfrm>
        </p:spPr>
        <p:txBody>
          <a:bodyPr>
            <a:normAutofit fontScale="92500" lnSpcReduction="10000"/>
          </a:bodyPr>
          <a:lstStyle/>
          <a:p>
            <a:pPr marL="457200" indent="-457200" algn="just">
              <a:buFontTx/>
              <a:buChar char="-"/>
            </a:pPr>
            <a:r>
              <a:rPr lang="it-IT" sz="2400" dirty="0"/>
              <a:t>Fonte: Wikipedia ≠ </a:t>
            </a:r>
            <a:r>
              <a:rPr lang="it-IT" sz="2400" dirty="0" err="1"/>
              <a:t>adelphi.it</a:t>
            </a:r>
            <a:endParaRPr lang="it-IT" sz="2400" dirty="0"/>
          </a:p>
          <a:p>
            <a:pPr marL="457200" indent="-457200" algn="just">
              <a:buFontTx/>
              <a:buChar char="-"/>
            </a:pPr>
            <a:r>
              <a:rPr lang="it-IT" sz="2400" dirty="0"/>
              <a:t>Pulizia: numeri di collana duplicati</a:t>
            </a:r>
          </a:p>
          <a:p>
            <a:pPr marL="457200" indent="-457200" algn="just">
              <a:buFontTx/>
              <a:buChar char="-"/>
            </a:pPr>
            <a:r>
              <a:rPr lang="it-IT" sz="2400" dirty="0"/>
              <a:t>Autori: regole specifiche per leggere Wikipedia </a:t>
            </a:r>
          </a:p>
          <a:p>
            <a:pPr marL="457200" indent="-457200" algn="just">
              <a:buFontTx/>
              <a:buChar char="-"/>
            </a:pPr>
            <a:r>
              <a:rPr lang="it-IT" sz="2400" dirty="0"/>
              <a:t>Modello: lista chiusa di 11 generi e temi</a:t>
            </a:r>
          </a:p>
          <a:p>
            <a:pPr marL="457200" indent="-457200" algn="just">
              <a:buFontTx/>
              <a:buChar char="-"/>
            </a:pPr>
            <a:r>
              <a:rPr lang="it-IT" sz="2400" dirty="0"/>
              <a:t>Correzioni manuali: età, nazionalità e genere di alcuni autori</a:t>
            </a:r>
          </a:p>
          <a:p>
            <a:pPr marL="457200" indent="-457200" algn="just">
              <a:buFontTx/>
              <a:buChar char="-"/>
            </a:pPr>
            <a:r>
              <a:rPr lang="it-IT" sz="2400" dirty="0"/>
              <a:t>Validazione: campione annotato a mano, controllo con temi-esca</a:t>
            </a:r>
            <a:endParaRPr lang="it-IT" dirty="0"/>
          </a:p>
        </p:txBody>
      </p:sp>
      <p:sp>
        <p:nvSpPr>
          <p:cNvPr id="8" name="Segnaposto data 7">
            <a:extLst>
              <a:ext uri="{FF2B5EF4-FFF2-40B4-BE49-F238E27FC236}">
                <a16:creationId xmlns:a16="http://schemas.microsoft.com/office/drawing/2014/main" id="{574C0AB5-4EA7-0208-AF97-EDD04445F55F}"/>
              </a:ext>
            </a:extLst>
          </p:cNvPr>
          <p:cNvSpPr>
            <a:spLocks noGrp="1"/>
          </p:cNvSpPr>
          <p:nvPr>
            <p:ph type="dt" sz="half" idx="10"/>
          </p:nvPr>
        </p:nvSpPr>
        <p:spPr/>
        <p:txBody>
          <a:bodyPr/>
          <a:lstStyle/>
          <a:p>
            <a:endParaRPr lang="en-US" dirty="0"/>
          </a:p>
        </p:txBody>
      </p:sp>
      <p:sp>
        <p:nvSpPr>
          <p:cNvPr id="9" name="Segnaposto numero diapositiva 8">
            <a:extLst>
              <a:ext uri="{FF2B5EF4-FFF2-40B4-BE49-F238E27FC236}">
                <a16:creationId xmlns:a16="http://schemas.microsoft.com/office/drawing/2014/main" id="{A44D4BE6-B772-3F1A-AB8F-52440BE88295}"/>
              </a:ext>
            </a:extLst>
          </p:cNvPr>
          <p:cNvSpPr>
            <a:spLocks noGrp="1"/>
          </p:cNvSpPr>
          <p:nvPr>
            <p:ph type="sldNum" sz="quarter" idx="12"/>
          </p:nvPr>
        </p:nvSpPr>
        <p:spPr/>
        <p:txBody>
          <a:bodyPr/>
          <a:lstStyle/>
          <a:p>
            <a:fld id="{CC057153-B650-4DEB-B370-79DDCFDCE934}" type="slidenum">
              <a:rPr lang="en-US" smtClean="0"/>
              <a:pPr/>
              <a:t>5</a:t>
            </a:fld>
            <a:endParaRPr lang="en-US"/>
          </a:p>
        </p:txBody>
      </p:sp>
    </p:spTree>
    <p:extLst>
      <p:ext uri="{BB962C8B-B14F-4D97-AF65-F5344CB8AC3E}">
        <p14:creationId xmlns:p14="http://schemas.microsoft.com/office/powerpoint/2010/main" val="163999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F4C8C2-2141-A309-E70E-7EF0E486C1CA}"/>
              </a:ext>
            </a:extLst>
          </p:cNvPr>
          <p:cNvSpPr>
            <a:spLocks noGrp="1"/>
          </p:cNvSpPr>
          <p:nvPr>
            <p:ph type="title"/>
          </p:nvPr>
        </p:nvSpPr>
        <p:spPr>
          <a:xfrm>
            <a:off x="731520" y="365760"/>
            <a:ext cx="10741152" cy="849429"/>
          </a:xfrm>
        </p:spPr>
        <p:txBody>
          <a:bodyPr>
            <a:normAutofit/>
          </a:bodyPr>
          <a:lstStyle/>
          <a:p>
            <a:pPr algn="ctr"/>
            <a:r>
              <a:rPr lang="it-IT" dirty="0"/>
              <a:t>Classificazione con il modello</a:t>
            </a:r>
          </a:p>
        </p:txBody>
      </p:sp>
      <p:sp>
        <p:nvSpPr>
          <p:cNvPr id="3" name="Segnaposto piè di pagina 2">
            <a:extLst>
              <a:ext uri="{FF2B5EF4-FFF2-40B4-BE49-F238E27FC236}">
                <a16:creationId xmlns:a16="http://schemas.microsoft.com/office/drawing/2014/main" id="{5E8BC3B2-9481-B5C2-ED82-66E27B5021CF}"/>
              </a:ext>
            </a:extLst>
          </p:cNvPr>
          <p:cNvSpPr>
            <a:spLocks noGrp="1"/>
          </p:cNvSpPr>
          <p:nvPr>
            <p:ph type="ftr" sz="quarter" idx="11"/>
          </p:nvPr>
        </p:nvSpPr>
        <p:spPr/>
        <p:txBody>
          <a:bodyPr/>
          <a:lstStyle/>
          <a:p>
            <a:endParaRPr lang="en-US" dirty="0"/>
          </a:p>
        </p:txBody>
      </p:sp>
      <p:sp>
        <p:nvSpPr>
          <p:cNvPr id="4" name="Segnaposto contenuto 3">
            <a:extLst>
              <a:ext uri="{FF2B5EF4-FFF2-40B4-BE49-F238E27FC236}">
                <a16:creationId xmlns:a16="http://schemas.microsoft.com/office/drawing/2014/main" id="{6CCD9977-FF66-346B-72F8-4ADE4DB3A837}"/>
              </a:ext>
            </a:extLst>
          </p:cNvPr>
          <p:cNvSpPr>
            <a:spLocks noGrp="1"/>
          </p:cNvSpPr>
          <p:nvPr>
            <p:ph idx="1"/>
          </p:nvPr>
        </p:nvSpPr>
        <p:spPr>
          <a:xfrm>
            <a:off x="731520" y="1443789"/>
            <a:ext cx="10780776" cy="5139890"/>
          </a:xfrm>
        </p:spPr>
        <p:txBody>
          <a:bodyPr/>
          <a:lstStyle/>
          <a:p>
            <a:pPr algn="ctr"/>
            <a:r>
              <a:rPr lang="it-IT" sz="2400" b="1" dirty="0">
                <a:solidFill>
                  <a:srgbClr val="0070C0"/>
                </a:solidFill>
              </a:rPr>
              <a:t>COME HO CLASSIFICATO I VOLUMI? </a:t>
            </a:r>
          </a:p>
          <a:p>
            <a:pPr algn="ctr"/>
            <a:endParaRPr lang="it-IT" dirty="0"/>
          </a:p>
        </p:txBody>
      </p:sp>
      <p:sp>
        <p:nvSpPr>
          <p:cNvPr id="5" name="Segnaposto data 4">
            <a:extLst>
              <a:ext uri="{FF2B5EF4-FFF2-40B4-BE49-F238E27FC236}">
                <a16:creationId xmlns:a16="http://schemas.microsoft.com/office/drawing/2014/main" id="{E195155B-C6BB-6E87-F78C-F913E4664356}"/>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E9FE5D00-E64B-B13C-1C92-9371584C2D35}"/>
              </a:ext>
            </a:extLst>
          </p:cNvPr>
          <p:cNvSpPr>
            <a:spLocks noGrp="1"/>
          </p:cNvSpPr>
          <p:nvPr>
            <p:ph type="sldNum" sz="quarter" idx="12"/>
          </p:nvPr>
        </p:nvSpPr>
        <p:spPr/>
        <p:txBody>
          <a:bodyPr/>
          <a:lstStyle/>
          <a:p>
            <a:fld id="{CC057153-B650-4DEB-B370-79DDCFDCE934}" type="slidenum">
              <a:rPr lang="en-US" smtClean="0"/>
              <a:pPr/>
              <a:t>6</a:t>
            </a:fld>
            <a:endParaRPr lang="en-US"/>
          </a:p>
        </p:txBody>
      </p:sp>
      <p:pic>
        <p:nvPicPr>
          <p:cNvPr id="8" name="Immagine 7">
            <a:extLst>
              <a:ext uri="{FF2B5EF4-FFF2-40B4-BE49-F238E27FC236}">
                <a16:creationId xmlns:a16="http://schemas.microsoft.com/office/drawing/2014/main" id="{5146D54D-ECEE-9D5A-88D7-AAA1A02DA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328" y="2247065"/>
            <a:ext cx="11079159" cy="4042611"/>
          </a:xfrm>
          <a:prstGeom prst="rect">
            <a:avLst/>
          </a:prstGeom>
        </p:spPr>
      </p:pic>
    </p:spTree>
    <p:extLst>
      <p:ext uri="{BB962C8B-B14F-4D97-AF65-F5344CB8AC3E}">
        <p14:creationId xmlns:p14="http://schemas.microsoft.com/office/powerpoint/2010/main" val="3117178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1B2AA9-EF22-7C83-1300-3067E6580934}"/>
              </a:ext>
            </a:extLst>
          </p:cNvPr>
          <p:cNvSpPr>
            <a:spLocks noGrp="1"/>
          </p:cNvSpPr>
          <p:nvPr>
            <p:ph type="title"/>
          </p:nvPr>
        </p:nvSpPr>
        <p:spPr/>
        <p:txBody>
          <a:bodyPr/>
          <a:lstStyle/>
          <a:p>
            <a:endParaRPr lang="it-IT"/>
          </a:p>
        </p:txBody>
      </p:sp>
      <p:sp>
        <p:nvSpPr>
          <p:cNvPr id="3" name="Segnaposto piè di pagina 2">
            <a:extLst>
              <a:ext uri="{FF2B5EF4-FFF2-40B4-BE49-F238E27FC236}">
                <a16:creationId xmlns:a16="http://schemas.microsoft.com/office/drawing/2014/main" id="{95046878-24F0-B916-4B0A-233BFC9A7482}"/>
              </a:ext>
            </a:extLst>
          </p:cNvPr>
          <p:cNvSpPr>
            <a:spLocks noGrp="1"/>
          </p:cNvSpPr>
          <p:nvPr>
            <p:ph type="ftr" sz="quarter" idx="11"/>
          </p:nvPr>
        </p:nvSpPr>
        <p:spPr/>
        <p:txBody>
          <a:bodyPr/>
          <a:lstStyle/>
          <a:p>
            <a:endParaRPr lang="en-US" dirty="0"/>
          </a:p>
        </p:txBody>
      </p:sp>
      <p:sp>
        <p:nvSpPr>
          <p:cNvPr id="4" name="Segnaposto contenuto 3">
            <a:extLst>
              <a:ext uri="{FF2B5EF4-FFF2-40B4-BE49-F238E27FC236}">
                <a16:creationId xmlns:a16="http://schemas.microsoft.com/office/drawing/2014/main" id="{E2178F8A-128B-2AAE-8F2C-B74D3A28A0FC}"/>
              </a:ext>
            </a:extLst>
          </p:cNvPr>
          <p:cNvSpPr>
            <a:spLocks noGrp="1"/>
          </p:cNvSpPr>
          <p:nvPr>
            <p:ph sz="quarter" idx="13"/>
          </p:nvPr>
        </p:nvSpPr>
        <p:spPr/>
        <p:txBody>
          <a:bodyPr/>
          <a:lstStyle/>
          <a:p>
            <a:r>
              <a:rPr lang="it-IT" sz="9600" b="1" dirty="0">
                <a:solidFill>
                  <a:srgbClr val="0070C0"/>
                </a:solidFill>
              </a:rPr>
              <a:t>H1</a:t>
            </a:r>
          </a:p>
          <a:p>
            <a:r>
              <a:rPr lang="it-IT" b="1" dirty="0">
                <a:solidFill>
                  <a:srgbClr val="0070C0"/>
                </a:solidFill>
              </a:rPr>
              <a:t> </a:t>
            </a:r>
            <a:r>
              <a:rPr lang="it-IT" dirty="0"/>
              <a:t>I temi assegnati dal modello sono più affidabili del genere</a:t>
            </a:r>
          </a:p>
          <a:p>
            <a:endParaRPr lang="it-IT" dirty="0"/>
          </a:p>
        </p:txBody>
      </p:sp>
      <p:sp>
        <p:nvSpPr>
          <p:cNvPr id="5" name="Segnaposto data 4">
            <a:extLst>
              <a:ext uri="{FF2B5EF4-FFF2-40B4-BE49-F238E27FC236}">
                <a16:creationId xmlns:a16="http://schemas.microsoft.com/office/drawing/2014/main" id="{70152D55-1D92-4FB6-9C7D-E9776E61E1E3}"/>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FB8551C0-9BB2-B14B-CA96-2B586D9E6721}"/>
              </a:ext>
            </a:extLst>
          </p:cNvPr>
          <p:cNvSpPr>
            <a:spLocks noGrp="1"/>
          </p:cNvSpPr>
          <p:nvPr>
            <p:ph type="sldNum" sz="quarter" idx="12"/>
          </p:nvPr>
        </p:nvSpPr>
        <p:spPr/>
        <p:txBody>
          <a:bodyPr/>
          <a:lstStyle/>
          <a:p>
            <a:fld id="{CC057153-B650-4DEB-B370-79DDCFDCE934}" type="slidenum">
              <a:rPr lang="en-US" smtClean="0"/>
              <a:pPr/>
              <a:t>7</a:t>
            </a:fld>
            <a:endParaRPr lang="en-US"/>
          </a:p>
        </p:txBody>
      </p:sp>
    </p:spTree>
    <p:extLst>
      <p:ext uri="{BB962C8B-B14F-4D97-AF65-F5344CB8AC3E}">
        <p14:creationId xmlns:p14="http://schemas.microsoft.com/office/powerpoint/2010/main" val="285952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238DB9-4BCD-CB2A-915D-B7EEFAD26876}"/>
              </a:ext>
            </a:extLst>
          </p:cNvPr>
          <p:cNvSpPr>
            <a:spLocks noGrp="1"/>
          </p:cNvSpPr>
          <p:nvPr>
            <p:ph type="title"/>
          </p:nvPr>
        </p:nvSpPr>
        <p:spPr>
          <a:xfrm>
            <a:off x="595237" y="532651"/>
            <a:ext cx="3468202" cy="5957795"/>
          </a:xfrm>
        </p:spPr>
        <p:txBody>
          <a:bodyPr>
            <a:normAutofit fontScale="90000"/>
          </a:bodyPr>
          <a:lstStyle/>
          <a:p>
            <a:pPr lvl="0"/>
            <a:r>
              <a:rPr lang="it-IT" dirty="0"/>
              <a:t>I generi: </a:t>
            </a:r>
            <a:br>
              <a:rPr lang="it-IT" dirty="0"/>
            </a:br>
            <a:r>
              <a:rPr lang="it-IT" dirty="0"/>
              <a:t>CI SI Può FIDARE DEL MODELLO?</a:t>
            </a:r>
            <a:br>
              <a:rPr lang="it-IT" dirty="0"/>
            </a:br>
            <a:br>
              <a:rPr lang="it-IT" sz="2000" dirty="0"/>
            </a:br>
            <a:r>
              <a:rPr lang="it-IT" sz="2000" dirty="0"/>
              <a:t>60 libri, annotazione cieca</a:t>
            </a:r>
            <a:br>
              <a:rPr lang="it-IT" sz="2000" dirty="0"/>
            </a:br>
            <a:br>
              <a:rPr lang="it-IT" sz="2000" dirty="0"/>
            </a:br>
            <a:r>
              <a:rPr lang="it-IT" sz="2000" dirty="0"/>
              <a:t>Primo confronto: </a:t>
            </a:r>
            <a:r>
              <a:rPr lang="it-IT" sz="2000" b="1" dirty="0"/>
              <a:t>45%*</a:t>
            </a:r>
            <a:br>
              <a:rPr lang="it-IT" sz="2000" b="1" dirty="0"/>
            </a:br>
            <a:br>
              <a:rPr lang="it-IT" sz="2000" dirty="0"/>
            </a:br>
            <a:r>
              <a:rPr lang="it-IT" sz="2000" dirty="0"/>
              <a:t>Dopo la revisione: </a:t>
            </a:r>
            <a:r>
              <a:rPr lang="it-IT" sz="2000" b="1" dirty="0"/>
              <a:t>72%</a:t>
            </a:r>
            <a:br>
              <a:rPr lang="it-IT" sz="2000" b="1" dirty="0"/>
            </a:br>
            <a:br>
              <a:rPr lang="it-IT" sz="2000" dirty="0"/>
            </a:br>
            <a:r>
              <a:rPr lang="it-IT" sz="2000" dirty="0"/>
              <a:t>Dopo il ricontrollo di 5 libri: </a:t>
            </a:r>
            <a:r>
              <a:rPr lang="it-IT" sz="2000" b="1" dirty="0"/>
              <a:t>78%</a:t>
            </a:r>
            <a:br>
              <a:rPr lang="it-IT" sz="2000" b="1" dirty="0"/>
            </a:br>
            <a:br>
              <a:rPr lang="it-IT" sz="2000" dirty="0"/>
            </a:br>
            <a:r>
              <a:rPr lang="it-IT" sz="2000" dirty="0"/>
              <a:t>Pesata sul catalogo: </a:t>
            </a:r>
            <a:r>
              <a:rPr lang="it-IT" sz="2000" b="1" dirty="0"/>
              <a:t>73%</a:t>
            </a:r>
            <a:br>
              <a:rPr lang="it-IT" sz="2000" dirty="0"/>
            </a:br>
            <a:r>
              <a:rPr lang="it-IT" sz="2000" dirty="0"/>
              <a:t>Kappa di Cohen: </a:t>
            </a:r>
            <a:r>
              <a:rPr lang="it-IT" sz="2000" b="1" dirty="0"/>
              <a:t>0,76</a:t>
            </a:r>
            <a:br>
              <a:rPr lang="it-IT" sz="2000" dirty="0"/>
            </a:br>
            <a:br>
              <a:rPr lang="it-IT" sz="2000" dirty="0"/>
            </a:br>
            <a:br>
              <a:rPr lang="it-IT" sz="2000" dirty="0"/>
            </a:br>
            <a:br>
              <a:rPr lang="it-IT" sz="2000" dirty="0"/>
            </a:br>
            <a:br>
              <a:rPr lang="it-IT" sz="2000" dirty="0"/>
            </a:br>
            <a:r>
              <a:rPr lang="it-IT" sz="1000" dirty="0"/>
              <a:t>*</a:t>
            </a:r>
            <a:r>
              <a:rPr lang="it-IT" sz="1600" dirty="0"/>
              <a:t>Il 45% è l’unico valore pienamente indipendente</a:t>
            </a:r>
            <a:endParaRPr lang="it-IT" dirty="0"/>
          </a:p>
        </p:txBody>
      </p:sp>
      <p:sp>
        <p:nvSpPr>
          <p:cNvPr id="3" name="Segnaposto piè di pagina 2">
            <a:extLst>
              <a:ext uri="{FF2B5EF4-FFF2-40B4-BE49-F238E27FC236}">
                <a16:creationId xmlns:a16="http://schemas.microsoft.com/office/drawing/2014/main" id="{AA624CC6-822A-A3A3-1528-733DE02B6888}"/>
              </a:ext>
            </a:extLst>
          </p:cNvPr>
          <p:cNvSpPr>
            <a:spLocks noGrp="1"/>
          </p:cNvSpPr>
          <p:nvPr>
            <p:ph type="ftr" sz="quarter" idx="11"/>
          </p:nvPr>
        </p:nvSpPr>
        <p:spPr>
          <a:xfrm rot="16200000">
            <a:off x="-1131161" y="1592957"/>
            <a:ext cx="2973522" cy="365125"/>
          </a:xfrm>
        </p:spPr>
        <p:txBody>
          <a:bodyPr anchor="ctr">
            <a:normAutofit/>
          </a:bodyPr>
          <a:lstStyle/>
          <a:p>
            <a:r>
              <a:rPr lang="en-US" dirty="0"/>
              <a:t>H1</a:t>
            </a:r>
          </a:p>
        </p:txBody>
      </p:sp>
      <p:sp>
        <p:nvSpPr>
          <p:cNvPr id="5" name="Segnaposto data 4">
            <a:extLst>
              <a:ext uri="{FF2B5EF4-FFF2-40B4-BE49-F238E27FC236}">
                <a16:creationId xmlns:a16="http://schemas.microsoft.com/office/drawing/2014/main" id="{95C593EE-8524-0B05-51CD-5633071B2B33}"/>
              </a:ext>
            </a:extLst>
          </p:cNvPr>
          <p:cNvSpPr>
            <a:spLocks noGrp="1"/>
          </p:cNvSpPr>
          <p:nvPr>
            <p:ph type="dt" sz="half" idx="10"/>
          </p:nvPr>
        </p:nvSpPr>
        <p:spPr>
          <a:xfrm rot="5400000">
            <a:off x="10249200" y="4510314"/>
            <a:ext cx="3060252" cy="365125"/>
          </a:xfrm>
        </p:spPr>
        <p:txBody>
          <a:bodyPr anchor="ctr">
            <a:normAutofit/>
          </a:bodyPr>
          <a:lstStyle/>
          <a:p>
            <a:r>
              <a:rPr lang="en-US" dirty="0" err="1"/>
              <a:t>Tecnologie</a:t>
            </a:r>
            <a:r>
              <a:rPr lang="en-US" dirty="0"/>
              <a:t> </a:t>
            </a:r>
            <a:r>
              <a:rPr lang="en-US" dirty="0" err="1"/>
              <a:t>dei</a:t>
            </a:r>
            <a:r>
              <a:rPr lang="en-US" dirty="0"/>
              <a:t> </a:t>
            </a:r>
            <a:r>
              <a:rPr lang="en-US" dirty="0" err="1"/>
              <a:t>dati</a:t>
            </a:r>
            <a:r>
              <a:rPr lang="en-US" dirty="0"/>
              <a:t> e del </a:t>
            </a:r>
            <a:r>
              <a:rPr lang="en-US" dirty="0" err="1"/>
              <a:t>linguaggio</a:t>
            </a:r>
            <a:r>
              <a:rPr lang="en-US" dirty="0"/>
              <a:t> - Prof. Ferrara </a:t>
            </a:r>
          </a:p>
          <a:p>
            <a:endParaRPr lang="en-US" dirty="0"/>
          </a:p>
          <a:p>
            <a:pPr>
              <a:spcAft>
                <a:spcPts val="600"/>
              </a:spcAft>
            </a:pPr>
            <a:endParaRPr lang="en-US" dirty="0"/>
          </a:p>
        </p:txBody>
      </p:sp>
      <p:sp>
        <p:nvSpPr>
          <p:cNvPr id="6" name="Segnaposto numero diapositiva 5">
            <a:extLst>
              <a:ext uri="{FF2B5EF4-FFF2-40B4-BE49-F238E27FC236}">
                <a16:creationId xmlns:a16="http://schemas.microsoft.com/office/drawing/2014/main" id="{605F6CD4-B625-3564-1671-9C344C114B9A}"/>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pic>
        <p:nvPicPr>
          <p:cNvPr id="10" name="Segnaposto contenuto 9">
            <a:extLst>
              <a:ext uri="{FF2B5EF4-FFF2-40B4-BE49-F238E27FC236}">
                <a16:creationId xmlns:a16="http://schemas.microsoft.com/office/drawing/2014/main" id="{51C569E5-4DFA-EACB-FB85-9FF19B55210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667250" y="532651"/>
            <a:ext cx="6929513" cy="5690351"/>
          </a:xfrm>
          <a:prstGeom prst="rect">
            <a:avLst/>
          </a:prstGeom>
        </p:spPr>
      </p:pic>
    </p:spTree>
    <p:extLst>
      <p:ext uri="{BB962C8B-B14F-4D97-AF65-F5344CB8AC3E}">
        <p14:creationId xmlns:p14="http://schemas.microsoft.com/office/powerpoint/2010/main" val="982550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163A29-0757-5743-CF2B-5E0F2D88CFA3}"/>
              </a:ext>
            </a:extLst>
          </p:cNvPr>
          <p:cNvSpPr>
            <a:spLocks noGrp="1"/>
          </p:cNvSpPr>
          <p:nvPr>
            <p:ph type="title"/>
          </p:nvPr>
        </p:nvSpPr>
        <p:spPr>
          <a:xfrm>
            <a:off x="230111" y="841248"/>
            <a:ext cx="3500641" cy="5184648"/>
          </a:xfrm>
        </p:spPr>
        <p:txBody>
          <a:bodyPr/>
          <a:lstStyle/>
          <a:p>
            <a:pPr algn="ctr"/>
            <a:r>
              <a:rPr lang="it-IT" dirty="0"/>
              <a:t>Human vs </a:t>
            </a:r>
            <a:r>
              <a:rPr lang="it-IT" dirty="0" err="1"/>
              <a:t>llm</a:t>
            </a:r>
            <a:br>
              <a:rPr lang="it-IT" dirty="0"/>
            </a:br>
            <a:br>
              <a:rPr lang="it-IT" dirty="0"/>
            </a:br>
            <a:r>
              <a:rPr lang="it-IT" sz="1600" b="1" u="sng" dirty="0">
                <a:solidFill>
                  <a:srgbClr val="0070C0"/>
                </a:solidFill>
              </a:rPr>
              <a:t>dove il modello ed io non siamo d’accordo?</a:t>
            </a:r>
            <a:br>
              <a:rPr lang="it-IT" sz="2000" dirty="0"/>
            </a:br>
            <a:br>
              <a:rPr lang="it-IT" sz="2000" dirty="0"/>
            </a:br>
            <a:r>
              <a:rPr lang="it-IT" sz="1600" dirty="0"/>
              <a:t>Le righe sono il genere di riferimento (mio, post revisione).</a:t>
            </a:r>
            <a:br>
              <a:rPr lang="it-IT" sz="1600" dirty="0"/>
            </a:br>
            <a:br>
              <a:rPr lang="it-IT" sz="1600" dirty="0"/>
            </a:br>
            <a:r>
              <a:rPr lang="it-IT" sz="1600" dirty="0"/>
              <a:t>le colonne sono il genere dato da </a:t>
            </a:r>
            <a:r>
              <a:rPr lang="it-IT" sz="1600" dirty="0" err="1"/>
              <a:t>llm</a:t>
            </a:r>
            <a:r>
              <a:rPr lang="it-IT" sz="1600" dirty="0"/>
              <a:t>.</a:t>
            </a:r>
            <a:br>
              <a:rPr lang="it-IT" sz="1600" dirty="0"/>
            </a:br>
            <a:br>
              <a:rPr lang="it-IT" sz="1600" dirty="0"/>
            </a:br>
            <a:r>
              <a:rPr lang="it-IT" sz="1600" dirty="0"/>
              <a:t>La diagonale è l’accordo fra umano (io) e </a:t>
            </a:r>
            <a:r>
              <a:rPr lang="it-IT" sz="1600" dirty="0" err="1"/>
              <a:t>llm</a:t>
            </a:r>
            <a:br>
              <a:rPr lang="it-IT" sz="1600" dirty="0"/>
            </a:br>
            <a:br>
              <a:rPr lang="it-IT" sz="1600" dirty="0"/>
            </a:br>
            <a:r>
              <a:rPr lang="it-IT" sz="1600" b="1" u="sng" dirty="0">
                <a:solidFill>
                  <a:srgbClr val="0070C0"/>
                </a:solidFill>
              </a:rPr>
              <a:t>Risultato:</a:t>
            </a:r>
            <a:br>
              <a:rPr lang="it-IT" sz="1600" dirty="0"/>
            </a:br>
            <a:br>
              <a:rPr lang="it-IT" sz="1600" dirty="0"/>
            </a:br>
            <a:r>
              <a:rPr lang="it-IT" sz="1600" dirty="0"/>
              <a:t>Totale accordo:  47/60 libri</a:t>
            </a:r>
            <a:br>
              <a:rPr lang="it-IT" sz="1600" dirty="0"/>
            </a:br>
            <a:br>
              <a:rPr lang="it-IT" sz="1600" dirty="0"/>
            </a:br>
            <a:r>
              <a:rPr lang="it-IT" sz="1600" dirty="0"/>
              <a:t>totale errori: 13</a:t>
            </a:r>
            <a:endParaRPr lang="it-IT" dirty="0"/>
          </a:p>
        </p:txBody>
      </p:sp>
      <p:sp>
        <p:nvSpPr>
          <p:cNvPr id="3" name="Segnaposto piè di pagina 2">
            <a:extLst>
              <a:ext uri="{FF2B5EF4-FFF2-40B4-BE49-F238E27FC236}">
                <a16:creationId xmlns:a16="http://schemas.microsoft.com/office/drawing/2014/main" id="{92492EB6-E54F-A0D7-78DA-E89424F25FFC}"/>
              </a:ext>
            </a:extLst>
          </p:cNvPr>
          <p:cNvSpPr>
            <a:spLocks noGrp="1"/>
          </p:cNvSpPr>
          <p:nvPr>
            <p:ph type="ftr" sz="quarter" idx="11"/>
          </p:nvPr>
        </p:nvSpPr>
        <p:spPr/>
        <p:txBody>
          <a:bodyPr/>
          <a:lstStyle/>
          <a:p>
            <a:r>
              <a:rPr lang="en-US" dirty="0"/>
              <a:t>H1</a:t>
            </a:r>
          </a:p>
        </p:txBody>
      </p:sp>
      <p:pic>
        <p:nvPicPr>
          <p:cNvPr id="8" name="Segnaposto contenuto 7">
            <a:extLst>
              <a:ext uri="{FF2B5EF4-FFF2-40B4-BE49-F238E27FC236}">
                <a16:creationId xmlns:a16="http://schemas.microsoft.com/office/drawing/2014/main" id="{871FB1DB-F4D6-D8F9-B71D-C90544A958DB}"/>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427622" y="433137"/>
            <a:ext cx="7032858" cy="5923213"/>
          </a:xfrm>
          <a:prstGeom prst="rect">
            <a:avLst/>
          </a:prstGeom>
        </p:spPr>
      </p:pic>
      <p:sp>
        <p:nvSpPr>
          <p:cNvPr id="5" name="Segnaposto data 4">
            <a:extLst>
              <a:ext uri="{FF2B5EF4-FFF2-40B4-BE49-F238E27FC236}">
                <a16:creationId xmlns:a16="http://schemas.microsoft.com/office/drawing/2014/main" id="{6BDB8E7A-90FE-5CDF-15CB-FBD040A388A8}"/>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AFB51AC4-B8C0-ABC3-F924-7CF3C380F431}"/>
              </a:ext>
            </a:extLst>
          </p:cNvPr>
          <p:cNvSpPr>
            <a:spLocks noGrp="1"/>
          </p:cNvSpPr>
          <p:nvPr>
            <p:ph type="sldNum" sz="quarter" idx="12"/>
          </p:nvPr>
        </p:nvSpPr>
        <p:spPr/>
        <p:txBody>
          <a:bodyPr/>
          <a:lstStyle/>
          <a:p>
            <a:fld id="{CC057153-B650-4DEB-B370-79DDCFDCE934}" type="slidenum">
              <a:rPr lang="en-US" smtClean="0"/>
              <a:pPr/>
              <a:t>9</a:t>
            </a:fld>
            <a:endParaRPr lang="en-US"/>
          </a:p>
        </p:txBody>
      </p:sp>
    </p:spTree>
    <p:extLst>
      <p:ext uri="{BB962C8B-B14F-4D97-AF65-F5344CB8AC3E}">
        <p14:creationId xmlns:p14="http://schemas.microsoft.com/office/powerpoint/2010/main" val="156901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FCFC4B-E071-72DF-6CEE-FCC4E9389604}"/>
              </a:ext>
            </a:extLst>
          </p:cNvPr>
          <p:cNvSpPr>
            <a:spLocks noGrp="1"/>
          </p:cNvSpPr>
          <p:nvPr>
            <p:ph type="title"/>
          </p:nvPr>
        </p:nvSpPr>
        <p:spPr>
          <a:xfrm>
            <a:off x="538163" y="288758"/>
            <a:ext cx="3482294" cy="6280484"/>
          </a:xfrm>
        </p:spPr>
        <p:txBody>
          <a:bodyPr>
            <a:normAutofit fontScale="90000"/>
          </a:bodyPr>
          <a:lstStyle/>
          <a:p>
            <a:pPr algn="ctr"/>
            <a:r>
              <a:rPr lang="it-IT" sz="2700" dirty="0"/>
              <a:t>I temi: più affidabili del genere, ma dipende dal criterio</a:t>
            </a:r>
            <a:br>
              <a:rPr lang="it-IT" sz="2700" dirty="0"/>
            </a:br>
            <a:br>
              <a:rPr lang="it-IT" sz="1600" dirty="0"/>
            </a:br>
            <a:r>
              <a:rPr lang="it-IT" sz="1600" dirty="0"/>
              <a:t>2.615 temi diversi, quasi tutti unici: non si possono contare ma solo cercare e controllare a mano.</a:t>
            </a:r>
            <a:br>
              <a:rPr lang="it-IT" sz="1600" dirty="0"/>
            </a:br>
            <a:br>
              <a:rPr lang="it-IT" sz="1600" dirty="0"/>
            </a:br>
            <a:r>
              <a:rPr lang="it-IT" sz="1600" dirty="0"/>
              <a:t>94% dei temi pertinenti (38 libri verificati)</a:t>
            </a:r>
            <a:br>
              <a:rPr lang="it-IT" sz="1600" dirty="0"/>
            </a:br>
            <a:br>
              <a:rPr lang="it-IT" sz="1600" dirty="0"/>
            </a:br>
            <a:r>
              <a:rPr lang="it-IT" sz="1600" dirty="0"/>
              <a:t>Criterio prefissato: temi 100% contro genere 79% (</a:t>
            </a:r>
            <a:r>
              <a:rPr lang="it-IT" sz="1600" dirty="0" err="1"/>
              <a:t>p</a:t>
            </a:r>
            <a:r>
              <a:rPr lang="it-IT" sz="1600" dirty="0"/>
              <a:t> = 0,008)</a:t>
            </a:r>
            <a:br>
              <a:rPr lang="it-IT" sz="1600" dirty="0"/>
            </a:br>
            <a:br>
              <a:rPr lang="it-IT" sz="1600" dirty="0"/>
            </a:br>
            <a:r>
              <a:rPr lang="it-IT" sz="1600" dirty="0"/>
              <a:t>Criterio severo (tutti i temi): 82% contro 79%</a:t>
            </a:r>
            <a:br>
              <a:rPr lang="it-IT" sz="1600" dirty="0"/>
            </a:br>
            <a:br>
              <a:rPr lang="it-IT" sz="2000" dirty="0"/>
            </a:br>
            <a:r>
              <a:rPr lang="it-IT" sz="2200" b="1" u="sng" dirty="0">
                <a:solidFill>
                  <a:srgbClr val="0070C0"/>
                </a:solidFill>
              </a:rPr>
              <a:t>conclusione h1:</a:t>
            </a:r>
            <a:br>
              <a:rPr lang="it-IT" sz="2200" b="1" dirty="0">
                <a:solidFill>
                  <a:srgbClr val="0070C0"/>
                </a:solidFill>
              </a:rPr>
            </a:br>
            <a:r>
              <a:rPr lang="it-IT" sz="2200" b="1" dirty="0">
                <a:solidFill>
                  <a:srgbClr val="0070C0"/>
                </a:solidFill>
              </a:rPr>
              <a:t>h1 confermata, ma fragile: </a:t>
            </a:r>
            <a:r>
              <a:rPr lang="it-IT" sz="2200" dirty="0">
                <a:solidFill>
                  <a:srgbClr val="0070C0"/>
                </a:solidFill>
              </a:rPr>
              <a:t>il vantaggio dei temi sparisce con il criterio severo</a:t>
            </a:r>
            <a:endParaRPr lang="it-IT" sz="1600" b="1" dirty="0">
              <a:solidFill>
                <a:srgbClr val="0070C0"/>
              </a:solidFill>
            </a:endParaRPr>
          </a:p>
        </p:txBody>
      </p:sp>
      <p:sp>
        <p:nvSpPr>
          <p:cNvPr id="3" name="Segnaposto piè di pagina 2">
            <a:extLst>
              <a:ext uri="{FF2B5EF4-FFF2-40B4-BE49-F238E27FC236}">
                <a16:creationId xmlns:a16="http://schemas.microsoft.com/office/drawing/2014/main" id="{DF76272A-64BC-0C61-6DF3-F6EA5E096C2D}"/>
              </a:ext>
            </a:extLst>
          </p:cNvPr>
          <p:cNvSpPr>
            <a:spLocks noGrp="1"/>
          </p:cNvSpPr>
          <p:nvPr>
            <p:ph type="ftr" sz="quarter" idx="11"/>
          </p:nvPr>
        </p:nvSpPr>
        <p:spPr/>
        <p:txBody>
          <a:bodyPr/>
          <a:lstStyle/>
          <a:p>
            <a:r>
              <a:rPr lang="en-US" dirty="0"/>
              <a:t>H1</a:t>
            </a:r>
          </a:p>
        </p:txBody>
      </p:sp>
      <p:graphicFrame>
        <p:nvGraphicFramePr>
          <p:cNvPr id="7" name="Segnaposto contenuto 6">
            <a:extLst>
              <a:ext uri="{FF2B5EF4-FFF2-40B4-BE49-F238E27FC236}">
                <a16:creationId xmlns:a16="http://schemas.microsoft.com/office/drawing/2014/main" id="{02CDC1B6-1087-D90B-D401-9C0047002970}"/>
              </a:ext>
            </a:extLst>
          </p:cNvPr>
          <p:cNvGraphicFramePr>
            <a:graphicFrameLocks noGrp="1"/>
          </p:cNvGraphicFramePr>
          <p:nvPr>
            <p:ph sz="quarter" idx="13"/>
            <p:extLst>
              <p:ext uri="{D42A27DB-BD31-4B8C-83A1-F6EECF244321}">
                <p14:modId xmlns:p14="http://schemas.microsoft.com/office/powerpoint/2010/main" val="979540359"/>
              </p:ext>
            </p:extLst>
          </p:nvPr>
        </p:nvGraphicFramePr>
        <p:xfrm>
          <a:off x="4667246" y="1157320"/>
          <a:ext cx="6929517" cy="5199030"/>
        </p:xfrm>
        <a:graphic>
          <a:graphicData uri="http://schemas.openxmlformats.org/drawingml/2006/table">
            <a:tbl>
              <a:tblPr firstRow="1" bandRow="1">
                <a:tableStyleId>{1E171933-4619-4E11-9A3F-F7608DF75F80}</a:tableStyleId>
              </a:tblPr>
              <a:tblGrid>
                <a:gridCol w="2309839">
                  <a:extLst>
                    <a:ext uri="{9D8B030D-6E8A-4147-A177-3AD203B41FA5}">
                      <a16:colId xmlns:a16="http://schemas.microsoft.com/office/drawing/2014/main" val="3612977131"/>
                    </a:ext>
                  </a:extLst>
                </a:gridCol>
                <a:gridCol w="2309839">
                  <a:extLst>
                    <a:ext uri="{9D8B030D-6E8A-4147-A177-3AD203B41FA5}">
                      <a16:colId xmlns:a16="http://schemas.microsoft.com/office/drawing/2014/main" val="4114138749"/>
                    </a:ext>
                  </a:extLst>
                </a:gridCol>
                <a:gridCol w="2309839">
                  <a:extLst>
                    <a:ext uri="{9D8B030D-6E8A-4147-A177-3AD203B41FA5}">
                      <a16:colId xmlns:a16="http://schemas.microsoft.com/office/drawing/2014/main" val="3869711240"/>
                    </a:ext>
                  </a:extLst>
                </a:gridCol>
              </a:tblGrid>
              <a:tr h="1296130">
                <a:tc>
                  <a:txBody>
                    <a:bodyPr/>
                    <a:lstStyle/>
                    <a:p>
                      <a:pPr marL="0" algn="ctr" defTabSz="914400" rtl="0" eaLnBrk="1" latinLnBrk="0" hangingPunct="1"/>
                      <a:endParaRPr lang="it-IT" sz="2000" b="1" kern="1200" dirty="0">
                        <a:solidFill>
                          <a:schemeClr val="lt1"/>
                        </a:solidFill>
                        <a:latin typeface="+mn-lt"/>
                        <a:ea typeface="+mn-ea"/>
                        <a:cs typeface="+mn-cs"/>
                      </a:endParaRPr>
                    </a:p>
                    <a:p>
                      <a:pPr marL="0" algn="ctr" defTabSz="914400" rtl="0" eaLnBrk="1" latinLnBrk="0" hangingPunct="1"/>
                      <a:r>
                        <a:rPr lang="it-IT" sz="2000" b="1" kern="1200" dirty="0">
                          <a:solidFill>
                            <a:schemeClr val="lt1"/>
                          </a:solidFill>
                          <a:latin typeface="+mn-lt"/>
                          <a:ea typeface="+mn-ea"/>
                          <a:cs typeface="+mn-cs"/>
                        </a:rPr>
                        <a:t>IL TEMPO E LA MEMORIA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algn="ctr" defTabSz="914400" rtl="0" eaLnBrk="1" latinLnBrk="0" hangingPunct="1"/>
                      <a:endParaRPr lang="it-IT" sz="2000" b="1" kern="1200" dirty="0">
                        <a:solidFill>
                          <a:schemeClr val="lt1"/>
                        </a:solidFill>
                        <a:latin typeface="+mn-lt"/>
                        <a:ea typeface="+mn-ea"/>
                        <a:cs typeface="+mn-cs"/>
                      </a:endParaRPr>
                    </a:p>
                    <a:p>
                      <a:pPr marL="0" algn="ctr" defTabSz="914400" rtl="0" eaLnBrk="1" latinLnBrk="0" hangingPunct="1"/>
                      <a:r>
                        <a:rPr lang="it-IT" sz="2000" b="1" kern="1200" dirty="0">
                          <a:solidFill>
                            <a:schemeClr val="lt1"/>
                          </a:solidFill>
                          <a:latin typeface="+mn-lt"/>
                          <a:ea typeface="+mn-ea"/>
                          <a:cs typeface="+mn-cs"/>
                        </a:rPr>
                        <a:t>IL RAPPORTO TRA PADRE E FIGLIO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algn="ctr" defTabSz="914400" rtl="0" eaLnBrk="1" latinLnBrk="0" hangingPunct="1"/>
                      <a:endParaRPr lang="it-IT" sz="2000" b="1" kern="1200" dirty="0">
                        <a:solidFill>
                          <a:schemeClr val="lt1"/>
                        </a:solidFill>
                        <a:latin typeface="+mn-lt"/>
                        <a:ea typeface="+mn-ea"/>
                        <a:cs typeface="+mn-cs"/>
                      </a:endParaRPr>
                    </a:p>
                    <a:p>
                      <a:pPr marL="0" algn="ctr" defTabSz="914400" rtl="0" eaLnBrk="1" latinLnBrk="0" hangingPunct="1"/>
                      <a:r>
                        <a:rPr lang="it-IT" sz="2000" b="1" kern="1200" dirty="0">
                          <a:solidFill>
                            <a:schemeClr val="lt1"/>
                          </a:solidFill>
                          <a:latin typeface="+mn-lt"/>
                          <a:ea typeface="+mn-ea"/>
                          <a:cs typeface="+mn-cs"/>
                        </a:rPr>
                        <a:t>ESILIO E SRADICAMENTO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75904058"/>
                  </a:ext>
                </a:extLst>
              </a:tr>
              <a:tr h="1296130">
                <a:tc>
                  <a:txBody>
                    <a:bodyPr/>
                    <a:lstStyle/>
                    <a:p>
                      <a:pPr algn="ctr"/>
                      <a:r>
                        <a:rPr lang="it-IT" dirty="0"/>
                        <a:t>Borges, </a:t>
                      </a:r>
                      <a:r>
                        <a:rPr lang="it-IT" i="1" dirty="0"/>
                        <a:t>L’altro, lo stesso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Roth, </a:t>
                      </a:r>
                      <a:r>
                        <a:rPr lang="it-IT" sz="1800" i="1" kern="1200" dirty="0">
                          <a:solidFill>
                            <a:schemeClr val="dk1"/>
                          </a:solidFill>
                          <a:latin typeface="+mn-lt"/>
                          <a:ea typeface="+mn-ea"/>
                          <a:cs typeface="+mn-cs"/>
                        </a:rPr>
                        <a:t>Zipper e suo padre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Nabokov, </a:t>
                      </a:r>
                      <a:r>
                        <a:rPr lang="it-IT" sz="1800" i="1" kern="1200" dirty="0" err="1">
                          <a:solidFill>
                            <a:schemeClr val="dk1"/>
                          </a:solidFill>
                          <a:latin typeface="+mn-lt"/>
                          <a:ea typeface="+mn-ea"/>
                          <a:cs typeface="+mn-cs"/>
                        </a:rPr>
                        <a:t>Pnin</a:t>
                      </a:r>
                      <a:endParaRPr lang="it-IT" sz="1800" i="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extLst>
                  <a:ext uri="{0D108BD9-81ED-4DB2-BD59-A6C34878D82A}">
                    <a16:rowId xmlns:a16="http://schemas.microsoft.com/office/drawing/2014/main" val="3246098503"/>
                  </a:ext>
                </a:extLst>
              </a:tr>
              <a:tr h="1296130">
                <a:tc>
                  <a:txBody>
                    <a:bodyPr/>
                    <a:lstStyle/>
                    <a:p>
                      <a:pPr algn="ctr"/>
                      <a:r>
                        <a:rPr lang="it-IT" dirty="0"/>
                        <a:t>L’identità e il doppio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La prima guerra mondiale, vista dalla vita quotidiana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L’esilio di un professore russo negli Stati Uniti*</a:t>
                      </a:r>
                    </a:p>
                    <a:p>
                      <a:pPr algn="ctr"/>
                      <a:r>
                        <a:rPr lang="it-IT" sz="1200" dirty="0"/>
                        <a:t>*(lo stesso concetto, con le parole del modello)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extLst>
                  <a:ext uri="{0D108BD9-81ED-4DB2-BD59-A6C34878D82A}">
                    <a16:rowId xmlns:a16="http://schemas.microsoft.com/office/drawing/2014/main" val="54333225"/>
                  </a:ext>
                </a:extLst>
              </a:tr>
              <a:tr h="1296130">
                <a:tc>
                  <a:txBody>
                    <a:bodyPr/>
                    <a:lstStyle/>
                    <a:p>
                      <a:pPr algn="ctr"/>
                      <a:r>
                        <a:rPr lang="it-IT" dirty="0"/>
                        <a:t>La mitologia e la tradizione letteraria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Gli anni del dopoguerra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tc>
                  <a:txBody>
                    <a:bodyPr/>
                    <a:lstStyle/>
                    <a:p>
                      <a:pPr algn="ctr"/>
                      <a:r>
                        <a:rPr lang="it-IT" dirty="0"/>
                        <a:t>La nostalgia per la Russia perduta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DEFF"/>
                    </a:solidFill>
                  </a:tcPr>
                </a:tc>
                <a:extLst>
                  <a:ext uri="{0D108BD9-81ED-4DB2-BD59-A6C34878D82A}">
                    <a16:rowId xmlns:a16="http://schemas.microsoft.com/office/drawing/2014/main" val="4104160136"/>
                  </a:ext>
                </a:extLst>
              </a:tr>
            </a:tbl>
          </a:graphicData>
        </a:graphic>
      </p:graphicFrame>
      <p:sp>
        <p:nvSpPr>
          <p:cNvPr id="5" name="Segnaposto data 4">
            <a:extLst>
              <a:ext uri="{FF2B5EF4-FFF2-40B4-BE49-F238E27FC236}">
                <a16:creationId xmlns:a16="http://schemas.microsoft.com/office/drawing/2014/main" id="{05EB5DEB-756A-616B-556E-B274D9593570}"/>
              </a:ext>
            </a:extLst>
          </p:cNvPr>
          <p:cNvSpPr>
            <a:spLocks noGrp="1"/>
          </p:cNvSpPr>
          <p:nvPr>
            <p:ph type="dt" sz="half" idx="10"/>
          </p:nvPr>
        </p:nvSpPr>
        <p:spPr>
          <a:xfrm rot="5400000">
            <a:off x="10259958" y="4521072"/>
            <a:ext cx="3038736" cy="365125"/>
          </a:xfrm>
        </p:spPr>
        <p:txBody>
          <a:bodyPr/>
          <a:lstStyle/>
          <a:p>
            <a:r>
              <a:rPr lang="en-US" dirty="0" err="1"/>
              <a:t>Tecnologie</a:t>
            </a:r>
            <a:r>
              <a:rPr lang="en-US" dirty="0"/>
              <a:t> </a:t>
            </a:r>
            <a:r>
              <a:rPr lang="en-US" dirty="0" err="1"/>
              <a:t>dei</a:t>
            </a:r>
            <a:r>
              <a:rPr lang="en-US" dirty="0"/>
              <a:t> </a:t>
            </a:r>
            <a:r>
              <a:rPr lang="en-US" dirty="0" err="1"/>
              <a:t>dati</a:t>
            </a:r>
            <a:r>
              <a:rPr lang="en-US" dirty="0"/>
              <a:t> e del </a:t>
            </a:r>
            <a:r>
              <a:rPr lang="en-US" dirty="0" err="1"/>
              <a:t>linguaggio</a:t>
            </a:r>
            <a:r>
              <a:rPr lang="en-US" dirty="0"/>
              <a:t> - Prof. Ferrara </a:t>
            </a:r>
          </a:p>
          <a:p>
            <a:endParaRPr lang="en-US" dirty="0"/>
          </a:p>
          <a:p>
            <a:endParaRPr lang="en-US" dirty="0"/>
          </a:p>
        </p:txBody>
      </p:sp>
      <p:sp>
        <p:nvSpPr>
          <p:cNvPr id="6" name="Segnaposto numero diapositiva 5">
            <a:extLst>
              <a:ext uri="{FF2B5EF4-FFF2-40B4-BE49-F238E27FC236}">
                <a16:creationId xmlns:a16="http://schemas.microsoft.com/office/drawing/2014/main" id="{AE5427BD-8C2A-AF76-5C6A-196F70A5CC97}"/>
              </a:ext>
            </a:extLst>
          </p:cNvPr>
          <p:cNvSpPr>
            <a:spLocks noGrp="1"/>
          </p:cNvSpPr>
          <p:nvPr>
            <p:ph type="sldNum" sz="quarter" idx="12"/>
          </p:nvPr>
        </p:nvSpPr>
        <p:spPr/>
        <p:txBody>
          <a:bodyPr/>
          <a:lstStyle/>
          <a:p>
            <a:fld id="{CC057153-B650-4DEB-B370-79DDCFDCE934}" type="slidenum">
              <a:rPr lang="en-US" smtClean="0"/>
              <a:pPr/>
              <a:t>10</a:t>
            </a:fld>
            <a:endParaRPr lang="en-US"/>
          </a:p>
        </p:txBody>
      </p:sp>
      <p:sp>
        <p:nvSpPr>
          <p:cNvPr id="8" name="CasellaDiTesto 7">
            <a:extLst>
              <a:ext uri="{FF2B5EF4-FFF2-40B4-BE49-F238E27FC236}">
                <a16:creationId xmlns:a16="http://schemas.microsoft.com/office/drawing/2014/main" id="{14988941-10F7-CBB4-D53D-2C8E88F4A0C1}"/>
              </a:ext>
            </a:extLst>
          </p:cNvPr>
          <p:cNvSpPr txBox="1"/>
          <p:nvPr/>
        </p:nvSpPr>
        <p:spPr>
          <a:xfrm>
            <a:off x="4667246" y="666974"/>
            <a:ext cx="6929517" cy="369332"/>
          </a:xfrm>
          <a:prstGeom prst="rect">
            <a:avLst/>
          </a:prstGeom>
          <a:noFill/>
        </p:spPr>
        <p:txBody>
          <a:bodyPr wrap="square" rtlCol="0">
            <a:spAutoFit/>
          </a:bodyPr>
          <a:lstStyle/>
          <a:p>
            <a:pPr algn="ctr"/>
            <a:r>
              <a:rPr lang="it-IT" dirty="0"/>
              <a:t>Tema chiave VS altri temi assegnati dal modello allo stesso libro</a:t>
            </a:r>
          </a:p>
        </p:txBody>
      </p:sp>
    </p:spTree>
    <p:extLst>
      <p:ext uri="{BB962C8B-B14F-4D97-AF65-F5344CB8AC3E}">
        <p14:creationId xmlns:p14="http://schemas.microsoft.com/office/powerpoint/2010/main" val="58899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4BF5D5-9A2B-45B3-B1A9-E2BF7F8DF202}"/>
              </a:ext>
            </a:extLst>
          </p:cNvPr>
          <p:cNvSpPr>
            <a:spLocks noGrp="1"/>
          </p:cNvSpPr>
          <p:nvPr>
            <p:ph type="title"/>
          </p:nvPr>
        </p:nvSpPr>
        <p:spPr/>
        <p:txBody>
          <a:bodyPr/>
          <a:lstStyle/>
          <a:p>
            <a:endParaRPr lang="it-IT"/>
          </a:p>
        </p:txBody>
      </p:sp>
      <p:sp>
        <p:nvSpPr>
          <p:cNvPr id="3" name="Segnaposto piè di pagina 2">
            <a:extLst>
              <a:ext uri="{FF2B5EF4-FFF2-40B4-BE49-F238E27FC236}">
                <a16:creationId xmlns:a16="http://schemas.microsoft.com/office/drawing/2014/main" id="{82B1881A-95BB-6165-8ED5-3A23EF452383}"/>
              </a:ext>
            </a:extLst>
          </p:cNvPr>
          <p:cNvSpPr>
            <a:spLocks noGrp="1"/>
          </p:cNvSpPr>
          <p:nvPr>
            <p:ph type="ftr" sz="quarter" idx="11"/>
          </p:nvPr>
        </p:nvSpPr>
        <p:spPr/>
        <p:txBody>
          <a:bodyPr/>
          <a:lstStyle/>
          <a:p>
            <a:endParaRPr lang="en-US" dirty="0"/>
          </a:p>
        </p:txBody>
      </p:sp>
      <p:sp>
        <p:nvSpPr>
          <p:cNvPr id="4" name="Segnaposto contenuto 3">
            <a:extLst>
              <a:ext uri="{FF2B5EF4-FFF2-40B4-BE49-F238E27FC236}">
                <a16:creationId xmlns:a16="http://schemas.microsoft.com/office/drawing/2014/main" id="{822227BE-2FCC-0B46-6BEE-CAF2F931E4C1}"/>
              </a:ext>
            </a:extLst>
          </p:cNvPr>
          <p:cNvSpPr>
            <a:spLocks noGrp="1"/>
          </p:cNvSpPr>
          <p:nvPr>
            <p:ph sz="quarter" idx="13"/>
          </p:nvPr>
        </p:nvSpPr>
        <p:spPr/>
        <p:txBody>
          <a:bodyPr/>
          <a:lstStyle/>
          <a:p>
            <a:r>
              <a:rPr lang="it-IT" sz="9600" b="1" dirty="0">
                <a:solidFill>
                  <a:srgbClr val="0070C0"/>
                </a:solidFill>
              </a:rPr>
              <a:t>H2 </a:t>
            </a:r>
          </a:p>
          <a:p>
            <a:r>
              <a:rPr lang="it-IT" dirty="0"/>
              <a:t>Le donne sono molto meno presenti come autrici che come curatrici e traduttrici</a:t>
            </a:r>
          </a:p>
          <a:p>
            <a:endParaRPr lang="it-IT" dirty="0"/>
          </a:p>
        </p:txBody>
      </p:sp>
      <p:sp>
        <p:nvSpPr>
          <p:cNvPr id="5" name="Segnaposto data 4">
            <a:extLst>
              <a:ext uri="{FF2B5EF4-FFF2-40B4-BE49-F238E27FC236}">
                <a16:creationId xmlns:a16="http://schemas.microsoft.com/office/drawing/2014/main" id="{DE280E8F-4D80-C932-37F1-EC38570F98FF}"/>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DF2CF712-9645-5D9E-F323-277176D5429A}"/>
              </a:ext>
            </a:extLst>
          </p:cNvPr>
          <p:cNvSpPr>
            <a:spLocks noGrp="1"/>
          </p:cNvSpPr>
          <p:nvPr>
            <p:ph type="sldNum" sz="quarter" idx="12"/>
          </p:nvPr>
        </p:nvSpPr>
        <p:spPr/>
        <p:txBody>
          <a:bodyPr/>
          <a:lstStyle/>
          <a:p>
            <a:fld id="{CC057153-B650-4DEB-B370-79DDCFDCE934}" type="slidenum">
              <a:rPr lang="en-US" smtClean="0"/>
              <a:pPr/>
              <a:t>11</a:t>
            </a:fld>
            <a:endParaRPr lang="en-US"/>
          </a:p>
        </p:txBody>
      </p:sp>
    </p:spTree>
    <p:extLst>
      <p:ext uri="{BB962C8B-B14F-4D97-AF65-F5344CB8AC3E}">
        <p14:creationId xmlns:p14="http://schemas.microsoft.com/office/powerpoint/2010/main" val="957266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218F8A-E830-C137-3A85-24D310C5F41A}"/>
              </a:ext>
            </a:extLst>
          </p:cNvPr>
          <p:cNvSpPr>
            <a:spLocks noGrp="1"/>
          </p:cNvSpPr>
          <p:nvPr>
            <p:ph type="title"/>
          </p:nvPr>
        </p:nvSpPr>
        <p:spPr>
          <a:xfrm>
            <a:off x="538163" y="288758"/>
            <a:ext cx="3371685" cy="6253932"/>
          </a:xfrm>
        </p:spPr>
        <p:txBody>
          <a:bodyPr>
            <a:normAutofit/>
          </a:bodyPr>
          <a:lstStyle/>
          <a:p>
            <a:pPr lvl="0" algn="ctr"/>
            <a:r>
              <a:rPr lang="it-IT" sz="2700" dirty="0"/>
              <a:t>Presenza femminile: poche autrici, molte curatrici e traduttrici</a:t>
            </a:r>
            <a:br>
              <a:rPr lang="it-IT" sz="2000" dirty="0"/>
            </a:br>
            <a:br>
              <a:rPr lang="it-IT" sz="2000" dirty="0"/>
            </a:br>
            <a:r>
              <a:rPr lang="it-IT" sz="1800" dirty="0"/>
              <a:t>9,2% autrici (64/694 VOLUMI)</a:t>
            </a:r>
            <a:br>
              <a:rPr lang="it-IT" sz="1800" dirty="0"/>
            </a:br>
            <a:br>
              <a:rPr lang="it-IT" sz="1800" dirty="0"/>
            </a:br>
            <a:r>
              <a:rPr lang="it-IT" sz="1800" dirty="0"/>
              <a:t>53,3% curatrici e traduttrici (sui crediti)</a:t>
            </a:r>
            <a:br>
              <a:rPr lang="it-IT" sz="1800" dirty="0"/>
            </a:br>
            <a:br>
              <a:rPr lang="it-IT" sz="1800" dirty="0"/>
            </a:br>
            <a:r>
              <a:rPr lang="it-IT" sz="1800" dirty="0"/>
              <a:t>differenza 44 punti (IC 95% 40–48)</a:t>
            </a:r>
            <a:br>
              <a:rPr lang="it-IT" sz="1800" dirty="0"/>
            </a:br>
            <a:br>
              <a:rPr lang="it-IT" sz="1800" dirty="0"/>
            </a:br>
            <a:r>
              <a:rPr lang="it-IT" sz="1800" dirty="0"/>
              <a:t>Controllo: contando ogni persona una sola volta, 10% contro 48%</a:t>
            </a:r>
            <a:br>
              <a:rPr lang="it-IT" sz="1800" dirty="0"/>
            </a:br>
            <a:br>
              <a:rPr lang="it-IT" sz="1800" dirty="0"/>
            </a:br>
            <a:r>
              <a:rPr lang="it-IT" sz="1800" b="1" u="sng" dirty="0">
                <a:solidFill>
                  <a:srgbClr val="0070C0"/>
                </a:solidFill>
              </a:rPr>
              <a:t>CONCLUSIONE H2:</a:t>
            </a:r>
            <a:br>
              <a:rPr lang="it-IT" sz="1800" b="1" u="sng" dirty="0">
                <a:solidFill>
                  <a:srgbClr val="0070C0"/>
                </a:solidFill>
              </a:rPr>
            </a:br>
            <a:r>
              <a:rPr lang="it-IT" sz="1800" b="1" u="sng" dirty="0">
                <a:solidFill>
                  <a:srgbClr val="0070C0"/>
                </a:solidFill>
              </a:rPr>
              <a:t>H2 confermata, in ogni decennio</a:t>
            </a:r>
            <a:r>
              <a:rPr lang="it-IT" sz="1800" dirty="0">
                <a:solidFill>
                  <a:srgbClr val="0070C0"/>
                </a:solidFill>
              </a:rPr>
              <a:t>. </a:t>
            </a:r>
            <a:endParaRPr lang="it-IT" sz="2000" dirty="0">
              <a:solidFill>
                <a:srgbClr val="0070C0"/>
              </a:solidFill>
            </a:endParaRPr>
          </a:p>
        </p:txBody>
      </p:sp>
      <p:sp>
        <p:nvSpPr>
          <p:cNvPr id="3" name="Segnaposto piè di pagina 2">
            <a:extLst>
              <a:ext uri="{FF2B5EF4-FFF2-40B4-BE49-F238E27FC236}">
                <a16:creationId xmlns:a16="http://schemas.microsoft.com/office/drawing/2014/main" id="{E922B4E2-C58E-0182-DED4-FBF97C0B88B8}"/>
              </a:ext>
            </a:extLst>
          </p:cNvPr>
          <p:cNvSpPr>
            <a:spLocks noGrp="1"/>
          </p:cNvSpPr>
          <p:nvPr>
            <p:ph type="ftr" sz="quarter" idx="11"/>
          </p:nvPr>
        </p:nvSpPr>
        <p:spPr/>
        <p:txBody>
          <a:bodyPr/>
          <a:lstStyle/>
          <a:p>
            <a:r>
              <a:rPr lang="en-US" dirty="0"/>
              <a:t>H2</a:t>
            </a:r>
          </a:p>
        </p:txBody>
      </p:sp>
      <p:sp>
        <p:nvSpPr>
          <p:cNvPr id="5" name="Segnaposto data 4">
            <a:extLst>
              <a:ext uri="{FF2B5EF4-FFF2-40B4-BE49-F238E27FC236}">
                <a16:creationId xmlns:a16="http://schemas.microsoft.com/office/drawing/2014/main" id="{42F2AEAB-A08C-B862-583A-3A8FA5D19010}"/>
              </a:ext>
            </a:extLst>
          </p:cNvPr>
          <p:cNvSpPr>
            <a:spLocks noGrp="1"/>
          </p:cNvSpPr>
          <p:nvPr>
            <p:ph type="dt" sz="half" idx="10"/>
          </p:nvPr>
        </p:nvSpPr>
        <p:spPr/>
        <p:txBody>
          <a:bodyPr/>
          <a:lstStyle/>
          <a:p>
            <a:endParaRPr lang="en-US" dirty="0"/>
          </a:p>
        </p:txBody>
      </p:sp>
      <p:sp>
        <p:nvSpPr>
          <p:cNvPr id="6" name="Segnaposto numero diapositiva 5">
            <a:extLst>
              <a:ext uri="{FF2B5EF4-FFF2-40B4-BE49-F238E27FC236}">
                <a16:creationId xmlns:a16="http://schemas.microsoft.com/office/drawing/2014/main" id="{00675398-8C28-A458-D40F-28F76C092B5D}"/>
              </a:ext>
            </a:extLst>
          </p:cNvPr>
          <p:cNvSpPr>
            <a:spLocks noGrp="1"/>
          </p:cNvSpPr>
          <p:nvPr>
            <p:ph type="sldNum" sz="quarter" idx="12"/>
          </p:nvPr>
        </p:nvSpPr>
        <p:spPr/>
        <p:txBody>
          <a:bodyPr/>
          <a:lstStyle/>
          <a:p>
            <a:fld id="{CC057153-B650-4DEB-B370-79DDCFDCE934}" type="slidenum">
              <a:rPr lang="en-US" smtClean="0"/>
              <a:pPr/>
              <a:t>12</a:t>
            </a:fld>
            <a:endParaRPr lang="en-US"/>
          </a:p>
        </p:txBody>
      </p:sp>
      <p:pic>
        <p:nvPicPr>
          <p:cNvPr id="7" name="Segnaposto contenuto 7">
            <a:extLst>
              <a:ext uri="{FF2B5EF4-FFF2-40B4-BE49-F238E27FC236}">
                <a16:creationId xmlns:a16="http://schemas.microsoft.com/office/drawing/2014/main" id="{64DCAB2A-C334-F22E-FBBE-10482C5CBCA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351283" y="288758"/>
            <a:ext cx="7610605" cy="5589528"/>
          </a:xfrm>
          <a:prstGeom prst="rect">
            <a:avLst/>
          </a:prstGeom>
        </p:spPr>
      </p:pic>
      <p:sp>
        <p:nvSpPr>
          <p:cNvPr id="10" name="CasellaDiTesto 9">
            <a:extLst>
              <a:ext uri="{FF2B5EF4-FFF2-40B4-BE49-F238E27FC236}">
                <a16:creationId xmlns:a16="http://schemas.microsoft.com/office/drawing/2014/main" id="{133384D4-34C1-51AF-AFE1-9DD5D25E42FB}"/>
              </a:ext>
            </a:extLst>
          </p:cNvPr>
          <p:cNvSpPr txBox="1"/>
          <p:nvPr/>
        </p:nvSpPr>
        <p:spPr>
          <a:xfrm>
            <a:off x="4351283" y="6081486"/>
            <a:ext cx="7027917" cy="307777"/>
          </a:xfrm>
          <a:prstGeom prst="rect">
            <a:avLst/>
          </a:prstGeom>
          <a:noFill/>
        </p:spPr>
        <p:txBody>
          <a:bodyPr wrap="square" rtlCol="0">
            <a:spAutoFit/>
          </a:bodyPr>
          <a:lstStyle/>
          <a:p>
            <a:r>
              <a:rPr lang="it-IT" sz="1400" dirty="0"/>
              <a:t>Nota: negli anni ‘60 e ‘70, </a:t>
            </a:r>
            <a:r>
              <a:rPr lang="it-IT" sz="1400" dirty="0" err="1"/>
              <a:t>n</a:t>
            </a:r>
            <a:r>
              <a:rPr lang="it-IT" sz="1400" dirty="0"/>
              <a:t> piccolo: 5% sono 1 volume su 21</a:t>
            </a:r>
          </a:p>
        </p:txBody>
      </p:sp>
    </p:spTree>
    <p:extLst>
      <p:ext uri="{BB962C8B-B14F-4D97-AF65-F5344CB8AC3E}">
        <p14:creationId xmlns:p14="http://schemas.microsoft.com/office/powerpoint/2010/main" val="180688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85B0EC-258D-E9A3-5336-4221355E404F}"/>
              </a:ext>
            </a:extLst>
          </p:cNvPr>
          <p:cNvSpPr>
            <a:spLocks noGrp="1"/>
          </p:cNvSpPr>
          <p:nvPr>
            <p:ph type="title"/>
          </p:nvPr>
        </p:nvSpPr>
        <p:spPr/>
        <p:txBody>
          <a:bodyPr/>
          <a:lstStyle/>
          <a:p>
            <a:endParaRPr lang="it-IT"/>
          </a:p>
        </p:txBody>
      </p:sp>
      <p:sp>
        <p:nvSpPr>
          <p:cNvPr id="4" name="Segnaposto contenuto 3">
            <a:extLst>
              <a:ext uri="{FF2B5EF4-FFF2-40B4-BE49-F238E27FC236}">
                <a16:creationId xmlns:a16="http://schemas.microsoft.com/office/drawing/2014/main" id="{60A0A96F-3863-81EC-7D94-9856ADD745B5}"/>
              </a:ext>
            </a:extLst>
          </p:cNvPr>
          <p:cNvSpPr>
            <a:spLocks noGrp="1"/>
          </p:cNvSpPr>
          <p:nvPr>
            <p:ph sz="quarter" idx="13"/>
          </p:nvPr>
        </p:nvSpPr>
        <p:spPr/>
        <p:txBody>
          <a:bodyPr/>
          <a:lstStyle/>
          <a:p>
            <a:r>
              <a:rPr lang="it-IT" sz="8000" b="1" dirty="0">
                <a:solidFill>
                  <a:srgbClr val="0070C0"/>
                </a:solidFill>
              </a:rPr>
              <a:t>H3</a:t>
            </a:r>
          </a:p>
          <a:p>
            <a:r>
              <a:rPr lang="it-IT" b="1" dirty="0">
                <a:solidFill>
                  <a:srgbClr val="0070C0"/>
                </a:solidFill>
              </a:rPr>
              <a:t> </a:t>
            </a:r>
            <a:r>
              <a:rPr lang="it-IT" dirty="0"/>
              <a:t>La distanza tra la nascita dell’autore e l’edizione cresce nel tempo</a:t>
            </a:r>
          </a:p>
          <a:p>
            <a:endParaRPr lang="it-IT" dirty="0"/>
          </a:p>
        </p:txBody>
      </p:sp>
      <p:sp>
        <p:nvSpPr>
          <p:cNvPr id="6" name="Segnaposto numero diapositiva 5">
            <a:extLst>
              <a:ext uri="{FF2B5EF4-FFF2-40B4-BE49-F238E27FC236}">
                <a16:creationId xmlns:a16="http://schemas.microsoft.com/office/drawing/2014/main" id="{00217312-6B62-8FA7-71D2-0E741586967C}"/>
              </a:ext>
            </a:extLst>
          </p:cNvPr>
          <p:cNvSpPr>
            <a:spLocks noGrp="1"/>
          </p:cNvSpPr>
          <p:nvPr>
            <p:ph type="sldNum" sz="quarter" idx="12"/>
          </p:nvPr>
        </p:nvSpPr>
        <p:spPr/>
        <p:txBody>
          <a:bodyPr/>
          <a:lstStyle/>
          <a:p>
            <a:fld id="{CC057153-B650-4DEB-B370-79DDCFDCE934}" type="slidenum">
              <a:rPr lang="en-US" smtClean="0"/>
              <a:pPr/>
              <a:t>13</a:t>
            </a:fld>
            <a:endParaRPr lang="en-US"/>
          </a:p>
        </p:txBody>
      </p:sp>
    </p:spTree>
    <p:extLst>
      <p:ext uri="{BB962C8B-B14F-4D97-AF65-F5344CB8AC3E}">
        <p14:creationId xmlns:p14="http://schemas.microsoft.com/office/powerpoint/2010/main" val="496730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4B93E9-30BF-8600-81FD-968377DEE401}"/>
              </a:ext>
            </a:extLst>
          </p:cNvPr>
          <p:cNvSpPr>
            <a:spLocks noGrp="1"/>
          </p:cNvSpPr>
          <p:nvPr>
            <p:ph type="title"/>
          </p:nvPr>
        </p:nvSpPr>
        <p:spPr>
          <a:xfrm>
            <a:off x="538163" y="288758"/>
            <a:ext cx="3331708" cy="5737138"/>
          </a:xfrm>
        </p:spPr>
        <p:txBody>
          <a:bodyPr>
            <a:normAutofit/>
          </a:bodyPr>
          <a:lstStyle/>
          <a:p>
            <a:pPr lvl="0" algn="ctr"/>
            <a:r>
              <a:rPr lang="it-IT" sz="2000" dirty="0"/>
              <a:t>la distanza dall’autore cresce, di circa 7 anni a decennio</a:t>
            </a:r>
            <a:br>
              <a:rPr lang="it-IT" sz="2000" dirty="0"/>
            </a:br>
            <a:br>
              <a:rPr lang="it-IT" sz="1600" dirty="0"/>
            </a:br>
            <a:br>
              <a:rPr lang="it-IT" sz="1600" dirty="0"/>
            </a:br>
            <a:r>
              <a:rPr lang="it-IT" sz="1600" dirty="0"/>
              <a:t>658 libri su 792 (quelli con anno di edizione e data di nascita dell’autore)</a:t>
            </a:r>
            <a:br>
              <a:rPr lang="it-IT" sz="1600" dirty="0"/>
            </a:br>
            <a:br>
              <a:rPr lang="it-IT" sz="1600" dirty="0"/>
            </a:br>
            <a:r>
              <a:rPr lang="it-IT" sz="1600" dirty="0"/>
              <a:t>+7,1 anni di distanza ogni 10 anni di catalogo (IC 95% 5,4–8,9)</a:t>
            </a:r>
            <a:br>
              <a:rPr lang="it-IT" sz="1600" dirty="0"/>
            </a:br>
            <a:br>
              <a:rPr lang="it-IT" sz="1600" dirty="0"/>
            </a:br>
            <a:r>
              <a:rPr lang="it-IT" sz="1600" dirty="0"/>
              <a:t>correlazione di Spearman 0,46 (IC 95% 0,40–0,52)</a:t>
            </a:r>
            <a:br>
              <a:rPr lang="it-IT" sz="1600" dirty="0"/>
            </a:br>
            <a:br>
              <a:rPr lang="it-IT" sz="1600" dirty="0"/>
            </a:br>
            <a:r>
              <a:rPr lang="it-IT" sz="1600" b="1" u="sng" dirty="0">
                <a:solidFill>
                  <a:srgbClr val="0070C0"/>
                </a:solidFill>
              </a:rPr>
              <a:t>CONCLUSIONE H3:</a:t>
            </a:r>
            <a:br>
              <a:rPr lang="it-IT" sz="1600" b="1" u="sng" dirty="0">
                <a:solidFill>
                  <a:srgbClr val="0070C0"/>
                </a:solidFill>
              </a:rPr>
            </a:br>
            <a:r>
              <a:rPr lang="it-IT" sz="1600" b="1" u="sng" dirty="0">
                <a:solidFill>
                  <a:srgbClr val="0070C0"/>
                </a:solidFill>
              </a:rPr>
              <a:t>la tendenza c’è ed è moderata</a:t>
            </a:r>
          </a:p>
        </p:txBody>
      </p:sp>
      <p:sp>
        <p:nvSpPr>
          <p:cNvPr id="3" name="Segnaposto piè di pagina 2">
            <a:extLst>
              <a:ext uri="{FF2B5EF4-FFF2-40B4-BE49-F238E27FC236}">
                <a16:creationId xmlns:a16="http://schemas.microsoft.com/office/drawing/2014/main" id="{06CCB6C1-4999-C428-7965-396205EC8E07}"/>
              </a:ext>
            </a:extLst>
          </p:cNvPr>
          <p:cNvSpPr>
            <a:spLocks noGrp="1"/>
          </p:cNvSpPr>
          <p:nvPr>
            <p:ph type="ftr" sz="quarter" idx="11"/>
          </p:nvPr>
        </p:nvSpPr>
        <p:spPr/>
        <p:txBody>
          <a:bodyPr/>
          <a:lstStyle/>
          <a:p>
            <a:r>
              <a:rPr lang="en-US" dirty="0"/>
              <a:t>H3</a:t>
            </a:r>
          </a:p>
        </p:txBody>
      </p:sp>
      <p:sp>
        <p:nvSpPr>
          <p:cNvPr id="6" name="Segnaposto numero diapositiva 5">
            <a:extLst>
              <a:ext uri="{FF2B5EF4-FFF2-40B4-BE49-F238E27FC236}">
                <a16:creationId xmlns:a16="http://schemas.microsoft.com/office/drawing/2014/main" id="{3B0E7520-1A0C-4973-390F-99DEF90D9FCD}"/>
              </a:ext>
            </a:extLst>
          </p:cNvPr>
          <p:cNvSpPr>
            <a:spLocks noGrp="1"/>
          </p:cNvSpPr>
          <p:nvPr>
            <p:ph type="sldNum" sz="quarter" idx="12"/>
          </p:nvPr>
        </p:nvSpPr>
        <p:spPr/>
        <p:txBody>
          <a:bodyPr/>
          <a:lstStyle/>
          <a:p>
            <a:fld id="{CC057153-B650-4DEB-B370-79DDCFDCE934}" type="slidenum">
              <a:rPr lang="en-US" smtClean="0"/>
              <a:pPr/>
              <a:t>14</a:t>
            </a:fld>
            <a:endParaRPr lang="en-US"/>
          </a:p>
        </p:txBody>
      </p:sp>
      <p:pic>
        <p:nvPicPr>
          <p:cNvPr id="7" name="Segnaposto contenuto 11">
            <a:extLst>
              <a:ext uri="{FF2B5EF4-FFF2-40B4-BE49-F238E27FC236}">
                <a16:creationId xmlns:a16="http://schemas.microsoft.com/office/drawing/2014/main" id="{2DC0A224-F50B-61BD-6C19-925FDEFC749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667250" y="669957"/>
            <a:ext cx="6929513" cy="5184648"/>
          </a:xfrm>
          <a:prstGeom prst="rect">
            <a:avLst/>
          </a:prstGeom>
        </p:spPr>
      </p:pic>
      <p:sp>
        <p:nvSpPr>
          <p:cNvPr id="8" name="CasellaDiTesto 7">
            <a:extLst>
              <a:ext uri="{FF2B5EF4-FFF2-40B4-BE49-F238E27FC236}">
                <a16:creationId xmlns:a16="http://schemas.microsoft.com/office/drawing/2014/main" id="{B0A6FFCA-B3D3-CE4A-003B-82DAC6F367C1}"/>
              </a:ext>
            </a:extLst>
          </p:cNvPr>
          <p:cNvSpPr txBox="1"/>
          <p:nvPr/>
        </p:nvSpPr>
        <p:spPr>
          <a:xfrm>
            <a:off x="4667250" y="6025896"/>
            <a:ext cx="5407479" cy="369332"/>
          </a:xfrm>
          <a:prstGeom prst="rect">
            <a:avLst/>
          </a:prstGeom>
          <a:noFill/>
        </p:spPr>
        <p:txBody>
          <a:bodyPr wrap="square" rtlCol="0">
            <a:spAutoFit/>
          </a:bodyPr>
          <a:lstStyle/>
          <a:p>
            <a:r>
              <a:rPr lang="it-IT" dirty="0"/>
              <a:t>anno dell’edizione meno anno di nascita dell’autore</a:t>
            </a:r>
          </a:p>
        </p:txBody>
      </p:sp>
    </p:spTree>
    <p:extLst>
      <p:ext uri="{BB962C8B-B14F-4D97-AF65-F5344CB8AC3E}">
        <p14:creationId xmlns:p14="http://schemas.microsoft.com/office/powerpoint/2010/main" val="3658309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4615AA-C554-0D71-BDB4-B9C836037D03}"/>
              </a:ext>
            </a:extLst>
          </p:cNvPr>
          <p:cNvSpPr>
            <a:spLocks noGrp="1"/>
          </p:cNvSpPr>
          <p:nvPr>
            <p:ph type="title"/>
          </p:nvPr>
        </p:nvSpPr>
        <p:spPr/>
        <p:txBody>
          <a:bodyPr/>
          <a:lstStyle/>
          <a:p>
            <a:pPr algn="ctr"/>
            <a:r>
              <a:rPr lang="it-IT" dirty="0"/>
              <a:t>Validazione e limiti</a:t>
            </a:r>
          </a:p>
        </p:txBody>
      </p:sp>
      <p:sp>
        <p:nvSpPr>
          <p:cNvPr id="4" name="Segnaposto testo 3">
            <a:extLst>
              <a:ext uri="{FF2B5EF4-FFF2-40B4-BE49-F238E27FC236}">
                <a16:creationId xmlns:a16="http://schemas.microsoft.com/office/drawing/2014/main" id="{4784EF7A-463E-6013-FCC3-7B9887C19421}"/>
              </a:ext>
            </a:extLst>
          </p:cNvPr>
          <p:cNvSpPr>
            <a:spLocks noGrp="1"/>
          </p:cNvSpPr>
          <p:nvPr>
            <p:ph type="body" idx="1"/>
          </p:nvPr>
        </p:nvSpPr>
        <p:spPr/>
        <p:txBody>
          <a:bodyPr/>
          <a:lstStyle/>
          <a:p>
            <a:pPr algn="ctr"/>
            <a:r>
              <a:rPr lang="it-IT" dirty="0"/>
              <a:t>Come ho verificato:</a:t>
            </a:r>
          </a:p>
        </p:txBody>
      </p:sp>
      <p:sp>
        <p:nvSpPr>
          <p:cNvPr id="5" name="Segnaposto contenuto 4">
            <a:extLst>
              <a:ext uri="{FF2B5EF4-FFF2-40B4-BE49-F238E27FC236}">
                <a16:creationId xmlns:a16="http://schemas.microsoft.com/office/drawing/2014/main" id="{5CF4DB9A-DF4B-C2C1-6D80-AD3BAB0E9B19}"/>
              </a:ext>
            </a:extLst>
          </p:cNvPr>
          <p:cNvSpPr>
            <a:spLocks noGrp="1"/>
          </p:cNvSpPr>
          <p:nvPr>
            <p:ph sz="quarter" idx="15"/>
          </p:nvPr>
        </p:nvSpPr>
        <p:spPr/>
        <p:txBody>
          <a:bodyPr>
            <a:normAutofit lnSpcReduction="10000"/>
          </a:bodyPr>
          <a:lstStyle/>
          <a:p>
            <a:pPr lvl="0" algn="just"/>
            <a:r>
              <a:rPr lang="it-IT" sz="2400" dirty="0"/>
              <a:t>Genere: 60 libri annotati alla cieca, accordo 78%, kappa 0,76</a:t>
            </a:r>
          </a:p>
          <a:p>
            <a:pPr lvl="0" algn="just"/>
            <a:endParaRPr lang="it-IT" sz="2400" dirty="0"/>
          </a:p>
          <a:p>
            <a:pPr lvl="0" algn="just"/>
            <a:r>
              <a:rPr lang="it-IT" sz="2400" dirty="0"/>
              <a:t>Temi: 38 libri verificati con temi-esca, 94% pertinenti (esche accettate: 18%)</a:t>
            </a:r>
          </a:p>
          <a:p>
            <a:pPr lvl="0" algn="just"/>
            <a:endParaRPr lang="it-IT" sz="2400" dirty="0"/>
          </a:p>
          <a:p>
            <a:pPr lvl="0" algn="just"/>
            <a:r>
              <a:rPr lang="it-IT" sz="2400" dirty="0"/>
              <a:t>Dati: errori trovati e corretti su età, nazionalità e genere di alcuni autori.</a:t>
            </a:r>
          </a:p>
          <a:p>
            <a:pPr algn="just"/>
            <a:endParaRPr lang="it-IT" sz="1600" dirty="0"/>
          </a:p>
        </p:txBody>
      </p:sp>
      <p:sp>
        <p:nvSpPr>
          <p:cNvPr id="6" name="Segnaposto testo 5">
            <a:extLst>
              <a:ext uri="{FF2B5EF4-FFF2-40B4-BE49-F238E27FC236}">
                <a16:creationId xmlns:a16="http://schemas.microsoft.com/office/drawing/2014/main" id="{EC31BE55-20E2-539A-ECB1-3456753B4C4A}"/>
              </a:ext>
            </a:extLst>
          </p:cNvPr>
          <p:cNvSpPr>
            <a:spLocks noGrp="1"/>
          </p:cNvSpPr>
          <p:nvPr>
            <p:ph type="body" sz="quarter" idx="3"/>
          </p:nvPr>
        </p:nvSpPr>
        <p:spPr/>
        <p:txBody>
          <a:bodyPr/>
          <a:lstStyle/>
          <a:p>
            <a:pPr algn="ctr"/>
            <a:r>
              <a:rPr lang="it-IT" dirty="0"/>
              <a:t>Limiti, come domande aperte:</a:t>
            </a:r>
          </a:p>
        </p:txBody>
      </p:sp>
      <p:sp>
        <p:nvSpPr>
          <p:cNvPr id="7" name="Segnaposto contenuto 6">
            <a:extLst>
              <a:ext uri="{FF2B5EF4-FFF2-40B4-BE49-F238E27FC236}">
                <a16:creationId xmlns:a16="http://schemas.microsoft.com/office/drawing/2014/main" id="{0A872464-27E7-D8E9-FEAB-00CB4804ED7B}"/>
              </a:ext>
            </a:extLst>
          </p:cNvPr>
          <p:cNvSpPr>
            <a:spLocks noGrp="1"/>
          </p:cNvSpPr>
          <p:nvPr>
            <p:ph sz="quarter" idx="16"/>
          </p:nvPr>
        </p:nvSpPr>
        <p:spPr>
          <a:xfrm>
            <a:off x="6082700" y="2743200"/>
            <a:ext cx="5409849" cy="3763963"/>
          </a:xfrm>
        </p:spPr>
        <p:txBody>
          <a:bodyPr>
            <a:normAutofit fontScale="92500" lnSpcReduction="20000"/>
          </a:bodyPr>
          <a:lstStyle/>
          <a:p>
            <a:pPr lvl="0" algn="just"/>
            <a:r>
              <a:rPr lang="it-IT" sz="2400" dirty="0"/>
              <a:t>Il modello vede solo autore, titolo e descrizione breve: cosa cambierebbe con un testo più ricco?</a:t>
            </a:r>
          </a:p>
          <a:p>
            <a:pPr lvl="0" algn="just"/>
            <a:r>
              <a:rPr lang="it-IT" sz="2400" dirty="0"/>
              <a:t>22 libri su 60 non verificabili: i casi più difficili sono rimasti fuori?</a:t>
            </a:r>
          </a:p>
          <a:p>
            <a:pPr lvl="0" algn="just"/>
            <a:r>
              <a:rPr lang="it-IT" sz="2400" dirty="0"/>
              <a:t>H2 e H3 formulate dopo aver visto i grafici: sono esplorative</a:t>
            </a:r>
          </a:p>
          <a:p>
            <a:pPr lvl="0" algn="just"/>
            <a:r>
              <a:rPr lang="it-IT" sz="2400" dirty="0"/>
              <a:t>Dati noti solo in parte: genere dell’autore per 694 volumi su 792, data di nascita per 658; genere di curatori e traduttori dedotto dal nome</a:t>
            </a:r>
            <a:endParaRPr lang="it-IT" dirty="0"/>
          </a:p>
        </p:txBody>
      </p:sp>
      <p:sp>
        <p:nvSpPr>
          <p:cNvPr id="9" name="Segnaposto numero diapositiva 8">
            <a:extLst>
              <a:ext uri="{FF2B5EF4-FFF2-40B4-BE49-F238E27FC236}">
                <a16:creationId xmlns:a16="http://schemas.microsoft.com/office/drawing/2014/main" id="{CB398D2E-D4B6-D1E4-A1F3-BD40E1A7A0A8}"/>
              </a:ext>
            </a:extLst>
          </p:cNvPr>
          <p:cNvSpPr>
            <a:spLocks noGrp="1"/>
          </p:cNvSpPr>
          <p:nvPr>
            <p:ph type="sldNum" sz="quarter" idx="12"/>
          </p:nvPr>
        </p:nvSpPr>
        <p:spPr/>
        <p:txBody>
          <a:bodyPr/>
          <a:lstStyle/>
          <a:p>
            <a:fld id="{CC057153-B650-4DEB-B370-79DDCFDCE934}" type="slidenum">
              <a:rPr lang="en-US" smtClean="0"/>
              <a:pPr/>
              <a:t>15</a:t>
            </a:fld>
            <a:endParaRPr lang="en-US"/>
          </a:p>
        </p:txBody>
      </p:sp>
    </p:spTree>
    <p:extLst>
      <p:ext uri="{BB962C8B-B14F-4D97-AF65-F5344CB8AC3E}">
        <p14:creationId xmlns:p14="http://schemas.microsoft.com/office/powerpoint/2010/main" val="3360737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A31A04-BF7C-E9CD-0EB3-957D5248F067}"/>
              </a:ext>
            </a:extLst>
          </p:cNvPr>
          <p:cNvSpPr>
            <a:spLocks noGrp="1"/>
          </p:cNvSpPr>
          <p:nvPr>
            <p:ph type="title"/>
          </p:nvPr>
        </p:nvSpPr>
        <p:spPr/>
        <p:txBody>
          <a:bodyPr>
            <a:normAutofit fontScale="90000"/>
          </a:bodyPr>
          <a:lstStyle/>
          <a:p>
            <a:pPr algn="ctr"/>
            <a:r>
              <a:rPr lang="it-IT" dirty="0"/>
              <a:t>risposte alla domanda di ricerca </a:t>
            </a:r>
          </a:p>
        </p:txBody>
      </p:sp>
      <p:graphicFrame>
        <p:nvGraphicFramePr>
          <p:cNvPr id="7" name="Segnaposto contenuto 6">
            <a:extLst>
              <a:ext uri="{FF2B5EF4-FFF2-40B4-BE49-F238E27FC236}">
                <a16:creationId xmlns:a16="http://schemas.microsoft.com/office/drawing/2014/main" id="{F3646D22-AF6D-6BEA-E2AB-0F4BB6FFEB84}"/>
              </a:ext>
            </a:extLst>
          </p:cNvPr>
          <p:cNvGraphicFramePr>
            <a:graphicFrameLocks noGrp="1"/>
          </p:cNvGraphicFramePr>
          <p:nvPr>
            <p:ph idx="1"/>
            <p:extLst>
              <p:ext uri="{D42A27DB-BD31-4B8C-83A1-F6EECF244321}">
                <p14:modId xmlns:p14="http://schemas.microsoft.com/office/powerpoint/2010/main" val="1773056124"/>
              </p:ext>
            </p:extLst>
          </p:nvPr>
        </p:nvGraphicFramePr>
        <p:xfrm>
          <a:off x="731838" y="1658938"/>
          <a:ext cx="10780710" cy="2936240"/>
        </p:xfrm>
        <a:graphic>
          <a:graphicData uri="http://schemas.openxmlformats.org/drawingml/2006/table">
            <a:tbl>
              <a:tblPr firstRow="1" bandRow="1">
                <a:tableStyleId>{5C22544A-7EE6-4342-B048-85BDC9FD1C3A}</a:tableStyleId>
              </a:tblPr>
              <a:tblGrid>
                <a:gridCol w="3593570">
                  <a:extLst>
                    <a:ext uri="{9D8B030D-6E8A-4147-A177-3AD203B41FA5}">
                      <a16:colId xmlns:a16="http://schemas.microsoft.com/office/drawing/2014/main" val="783333207"/>
                    </a:ext>
                  </a:extLst>
                </a:gridCol>
                <a:gridCol w="3593570">
                  <a:extLst>
                    <a:ext uri="{9D8B030D-6E8A-4147-A177-3AD203B41FA5}">
                      <a16:colId xmlns:a16="http://schemas.microsoft.com/office/drawing/2014/main" val="2464171998"/>
                    </a:ext>
                  </a:extLst>
                </a:gridCol>
                <a:gridCol w="3593570">
                  <a:extLst>
                    <a:ext uri="{9D8B030D-6E8A-4147-A177-3AD203B41FA5}">
                      <a16:colId xmlns:a16="http://schemas.microsoft.com/office/drawing/2014/main" val="281650869"/>
                    </a:ext>
                  </a:extLst>
                </a:gridCol>
              </a:tblGrid>
              <a:tr h="370840">
                <a:tc>
                  <a:txBody>
                    <a:bodyPr/>
                    <a:lstStyle/>
                    <a:p>
                      <a:pPr algn="ctr"/>
                      <a:r>
                        <a:rPr lang="it-IT" dirty="0"/>
                        <a:t>DOMANDA </a:t>
                      </a:r>
                    </a:p>
                  </a:txBody>
                  <a:tcPr>
                    <a:solidFill>
                      <a:srgbClr val="0070C0"/>
                    </a:solidFill>
                  </a:tcPr>
                </a:tc>
                <a:tc>
                  <a:txBody>
                    <a:bodyPr/>
                    <a:lstStyle/>
                    <a:p>
                      <a:pPr algn="ctr"/>
                      <a:r>
                        <a:rPr lang="it-IT" dirty="0"/>
                        <a:t>RISULTATO</a:t>
                      </a:r>
                    </a:p>
                  </a:txBody>
                  <a:tcPr>
                    <a:solidFill>
                      <a:srgbClr val="0070C0"/>
                    </a:solidFill>
                  </a:tcPr>
                </a:tc>
                <a:tc>
                  <a:txBody>
                    <a:bodyPr/>
                    <a:lstStyle/>
                    <a:p>
                      <a:pPr algn="ctr"/>
                      <a:r>
                        <a:rPr lang="it-IT" dirty="0"/>
                        <a:t>VERDETTO</a:t>
                      </a:r>
                    </a:p>
                  </a:txBody>
                  <a:tcPr>
                    <a:solidFill>
                      <a:srgbClr val="0070C0"/>
                    </a:solidFill>
                  </a:tcPr>
                </a:tc>
                <a:extLst>
                  <a:ext uri="{0D108BD9-81ED-4DB2-BD59-A6C34878D82A}">
                    <a16:rowId xmlns:a16="http://schemas.microsoft.com/office/drawing/2014/main" val="1997312992"/>
                  </a:ext>
                </a:extLst>
              </a:tr>
              <a:tr h="370840">
                <a:tc>
                  <a:txBody>
                    <a:bodyPr/>
                    <a:lstStyle/>
                    <a:p>
                      <a:pPr algn="ctr"/>
                      <a:r>
                        <a:rPr lang="it-IT" b="1" dirty="0"/>
                        <a:t>Genere:</a:t>
                      </a:r>
                      <a:r>
                        <a:rPr lang="it-IT" dirty="0"/>
                        <a:t> il modello è affidabile?</a:t>
                      </a:r>
                    </a:p>
                  </a:txBody>
                  <a:tcPr>
                    <a:solidFill>
                      <a:srgbClr val="D1DEFF"/>
                    </a:solidFill>
                  </a:tcPr>
                </a:tc>
                <a:tc>
                  <a:txBody>
                    <a:bodyPr/>
                    <a:lstStyle/>
                    <a:p>
                      <a:pPr algn="ctr"/>
                      <a:r>
                        <a:rPr lang="it-IT" dirty="0"/>
                        <a:t>78% di accordo, kappa 0,76</a:t>
                      </a:r>
                    </a:p>
                  </a:txBody>
                  <a:tcPr>
                    <a:solidFill>
                      <a:srgbClr val="D1DEFF"/>
                    </a:solidFill>
                  </a:tcPr>
                </a:tc>
                <a:tc>
                  <a:txBody>
                    <a:bodyPr/>
                    <a:lstStyle/>
                    <a:p>
                      <a:pPr algn="ctr"/>
                      <a:r>
                        <a:rPr lang="it-IT" dirty="0"/>
                        <a:t>Abbastanza</a:t>
                      </a:r>
                    </a:p>
                  </a:txBody>
                  <a:tcPr>
                    <a:solidFill>
                      <a:srgbClr val="D1DEFF"/>
                    </a:solidFill>
                  </a:tcPr>
                </a:tc>
                <a:extLst>
                  <a:ext uri="{0D108BD9-81ED-4DB2-BD59-A6C34878D82A}">
                    <a16:rowId xmlns:a16="http://schemas.microsoft.com/office/drawing/2014/main" val="4161161541"/>
                  </a:ext>
                </a:extLst>
              </a:tr>
              <a:tr h="370840">
                <a:tc>
                  <a:txBody>
                    <a:bodyPr/>
                    <a:lstStyle/>
                    <a:p>
                      <a:pPr algn="ctr"/>
                      <a:r>
                        <a:rPr lang="it-IT" b="1" dirty="0"/>
                        <a:t>H1:</a:t>
                      </a:r>
                      <a:r>
                        <a:rPr lang="it-IT" dirty="0"/>
                        <a:t> temi più affidabili del genere</a:t>
                      </a:r>
                    </a:p>
                  </a:txBody>
                  <a:tcPr>
                    <a:solidFill>
                      <a:srgbClr val="D1DEFF"/>
                    </a:solidFill>
                  </a:tcPr>
                </a:tc>
                <a:tc>
                  <a:txBody>
                    <a:bodyPr/>
                    <a:lstStyle/>
                    <a:p>
                      <a:pPr algn="ctr"/>
                      <a:r>
                        <a:rPr lang="it-IT" dirty="0"/>
                        <a:t>100% contro 79% (criterio prefissato); 82% contro 79% (criterio severo)</a:t>
                      </a:r>
                    </a:p>
                  </a:txBody>
                  <a:tcPr>
                    <a:solidFill>
                      <a:srgbClr val="D1DEFF"/>
                    </a:solidFill>
                  </a:tcPr>
                </a:tc>
                <a:tc>
                  <a:txBody>
                    <a:bodyPr/>
                    <a:lstStyle/>
                    <a:p>
                      <a:pPr algn="ctr"/>
                      <a:r>
                        <a:rPr lang="it-IT" dirty="0"/>
                        <a:t>Confermata, fragile</a:t>
                      </a:r>
                    </a:p>
                  </a:txBody>
                  <a:tcPr>
                    <a:solidFill>
                      <a:srgbClr val="D1DEFF"/>
                    </a:solidFill>
                  </a:tcPr>
                </a:tc>
                <a:extLst>
                  <a:ext uri="{0D108BD9-81ED-4DB2-BD59-A6C34878D82A}">
                    <a16:rowId xmlns:a16="http://schemas.microsoft.com/office/drawing/2014/main" val="1947267790"/>
                  </a:ext>
                </a:extLst>
              </a:tr>
              <a:tr h="370840">
                <a:tc>
                  <a:txBody>
                    <a:bodyPr/>
                    <a:lstStyle/>
                    <a:p>
                      <a:pPr algn="ctr"/>
                      <a:r>
                        <a:rPr lang="it-IT" b="1" dirty="0"/>
                        <a:t>H2:</a:t>
                      </a:r>
                      <a:r>
                        <a:rPr lang="it-IT" dirty="0"/>
                        <a:t> poche autrici, molte curatrici e traduttrici</a:t>
                      </a:r>
                    </a:p>
                  </a:txBody>
                  <a:tcPr>
                    <a:solidFill>
                      <a:srgbClr val="D1DEFF"/>
                    </a:solidFill>
                  </a:tcPr>
                </a:tc>
                <a:tc>
                  <a:txBody>
                    <a:bodyPr/>
                    <a:lstStyle/>
                    <a:p>
                      <a:pPr algn="ctr"/>
                      <a:r>
                        <a:rPr lang="it-IT" dirty="0"/>
                        <a:t>9,2% contro 53,3% (IC 95% della differenza 40–48)</a:t>
                      </a:r>
                    </a:p>
                  </a:txBody>
                  <a:tcPr>
                    <a:solidFill>
                      <a:srgbClr val="D1DEFF"/>
                    </a:solidFill>
                  </a:tcPr>
                </a:tc>
                <a:tc>
                  <a:txBody>
                    <a:bodyPr/>
                    <a:lstStyle/>
                    <a:p>
                      <a:pPr algn="ctr"/>
                      <a:r>
                        <a:rPr lang="it-IT" dirty="0"/>
                        <a:t>Confermata*</a:t>
                      </a:r>
                    </a:p>
                  </a:txBody>
                  <a:tcPr>
                    <a:solidFill>
                      <a:srgbClr val="D1DEFF"/>
                    </a:solidFill>
                  </a:tcPr>
                </a:tc>
                <a:extLst>
                  <a:ext uri="{0D108BD9-81ED-4DB2-BD59-A6C34878D82A}">
                    <a16:rowId xmlns:a16="http://schemas.microsoft.com/office/drawing/2014/main" val="3930275809"/>
                  </a:ext>
                </a:extLst>
              </a:tr>
              <a:tr h="370840">
                <a:tc>
                  <a:txBody>
                    <a:bodyPr/>
                    <a:lstStyle/>
                    <a:p>
                      <a:pPr algn="ctr"/>
                      <a:r>
                        <a:rPr lang="it-IT" b="1" dirty="0"/>
                        <a:t>H3:</a:t>
                      </a:r>
                      <a:r>
                        <a:rPr lang="it-IT" dirty="0"/>
                        <a:t> distanza dall’autore in crescita</a:t>
                      </a:r>
                    </a:p>
                  </a:txBody>
                  <a:tcPr>
                    <a:solidFill>
                      <a:srgbClr val="D1DEFF"/>
                    </a:solidFill>
                  </a:tcPr>
                </a:tc>
                <a:tc>
                  <a:txBody>
                    <a:bodyPr/>
                    <a:lstStyle/>
                    <a:p>
                      <a:pPr algn="ctr"/>
                      <a:r>
                        <a:rPr lang="it-IT" dirty="0"/>
                        <a:t>+7,1 anni a decennio</a:t>
                      </a:r>
                    </a:p>
                    <a:p>
                      <a:pPr algn="ctr"/>
                      <a:r>
                        <a:rPr lang="it-IT" dirty="0"/>
                        <a:t> (IC 95% 5,4–8,9)</a:t>
                      </a:r>
                    </a:p>
                  </a:txBody>
                  <a:tcPr>
                    <a:solidFill>
                      <a:srgbClr val="D1DEFF"/>
                    </a:solidFill>
                  </a:tcPr>
                </a:tc>
                <a:tc>
                  <a:txBody>
                    <a:bodyPr/>
                    <a:lstStyle/>
                    <a:p>
                      <a:pPr algn="ctr"/>
                      <a:r>
                        <a:rPr lang="it-IT" dirty="0"/>
                        <a:t>Confermata, moderata*</a:t>
                      </a:r>
                    </a:p>
                  </a:txBody>
                  <a:tcPr>
                    <a:solidFill>
                      <a:srgbClr val="D1DEFF"/>
                    </a:solidFill>
                  </a:tcPr>
                </a:tc>
                <a:extLst>
                  <a:ext uri="{0D108BD9-81ED-4DB2-BD59-A6C34878D82A}">
                    <a16:rowId xmlns:a16="http://schemas.microsoft.com/office/drawing/2014/main" val="856179025"/>
                  </a:ext>
                </a:extLst>
              </a:tr>
            </a:tbl>
          </a:graphicData>
        </a:graphic>
      </p:graphicFrame>
      <p:sp>
        <p:nvSpPr>
          <p:cNvPr id="6" name="Segnaposto numero diapositiva 5">
            <a:extLst>
              <a:ext uri="{FF2B5EF4-FFF2-40B4-BE49-F238E27FC236}">
                <a16:creationId xmlns:a16="http://schemas.microsoft.com/office/drawing/2014/main" id="{7A7C86F5-4B19-9E37-A637-D3F9515F3616}"/>
              </a:ext>
            </a:extLst>
          </p:cNvPr>
          <p:cNvSpPr>
            <a:spLocks noGrp="1"/>
          </p:cNvSpPr>
          <p:nvPr>
            <p:ph type="sldNum" sz="quarter" idx="12"/>
          </p:nvPr>
        </p:nvSpPr>
        <p:spPr/>
        <p:txBody>
          <a:bodyPr/>
          <a:lstStyle/>
          <a:p>
            <a:fld id="{CC057153-B650-4DEB-B370-79DDCFDCE934}" type="slidenum">
              <a:rPr lang="en-US" smtClean="0"/>
              <a:pPr/>
              <a:t>16</a:t>
            </a:fld>
            <a:endParaRPr lang="en-US"/>
          </a:p>
        </p:txBody>
      </p:sp>
      <p:sp>
        <p:nvSpPr>
          <p:cNvPr id="8" name="CasellaDiTesto 7">
            <a:extLst>
              <a:ext uri="{FF2B5EF4-FFF2-40B4-BE49-F238E27FC236}">
                <a16:creationId xmlns:a16="http://schemas.microsoft.com/office/drawing/2014/main" id="{82A4FE89-1153-8B19-23F5-557D943FA13B}"/>
              </a:ext>
            </a:extLst>
          </p:cNvPr>
          <p:cNvSpPr txBox="1"/>
          <p:nvPr/>
        </p:nvSpPr>
        <p:spPr>
          <a:xfrm>
            <a:off x="731519" y="4738255"/>
            <a:ext cx="10741151" cy="2031325"/>
          </a:xfrm>
          <a:prstGeom prst="rect">
            <a:avLst/>
          </a:prstGeom>
          <a:noFill/>
        </p:spPr>
        <p:txBody>
          <a:bodyPr wrap="square" rtlCol="0">
            <a:spAutoFit/>
          </a:bodyPr>
          <a:lstStyle/>
          <a:p>
            <a:endParaRPr lang="it-IT" dirty="0"/>
          </a:p>
          <a:p>
            <a:pPr algn="ctr"/>
            <a:r>
              <a:rPr lang="it-IT" b="1" u="sng" dirty="0">
                <a:solidFill>
                  <a:srgbClr val="0070C0"/>
                </a:solidFill>
              </a:rPr>
              <a:t>CONCLUSIONI: </a:t>
            </a:r>
          </a:p>
          <a:p>
            <a:pPr marL="285750" lvl="0" indent="-285750">
              <a:buFontTx/>
              <a:buChar char="-"/>
            </a:pPr>
            <a:r>
              <a:rPr lang="it-IT" dirty="0"/>
              <a:t>Un LLM aiuta a orientarsi in un catalogo, ma va validato</a:t>
            </a:r>
          </a:p>
          <a:p>
            <a:pPr marL="285750" lvl="0" indent="-285750">
              <a:buFontTx/>
              <a:buChar char="-"/>
            </a:pPr>
            <a:r>
              <a:rPr lang="it-IT" dirty="0"/>
              <a:t>Il controllo umano resta indispensabile: serve chi capisce quando una fonte non basta</a:t>
            </a:r>
          </a:p>
          <a:p>
            <a:endParaRPr lang="it-IT" dirty="0"/>
          </a:p>
          <a:p>
            <a:endParaRPr lang="it-IT" dirty="0"/>
          </a:p>
          <a:p>
            <a:r>
              <a:rPr lang="it-IT" sz="1600" dirty="0"/>
              <a:t>*Nota: ipotesi formulate dopo aver visto i grafici (esplorative).</a:t>
            </a:r>
          </a:p>
        </p:txBody>
      </p:sp>
    </p:spTree>
    <p:extLst>
      <p:ext uri="{BB962C8B-B14F-4D97-AF65-F5344CB8AC3E}">
        <p14:creationId xmlns:p14="http://schemas.microsoft.com/office/powerpoint/2010/main" val="1464571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C9CC69-1C05-8C4F-AB19-A527BF821E0B}"/>
              </a:ext>
            </a:extLst>
          </p:cNvPr>
          <p:cNvSpPr>
            <a:spLocks noGrp="1"/>
          </p:cNvSpPr>
          <p:nvPr>
            <p:ph type="title"/>
          </p:nvPr>
        </p:nvSpPr>
        <p:spPr/>
        <p:txBody>
          <a:bodyPr/>
          <a:lstStyle/>
          <a:p>
            <a:endParaRPr lang="it-IT"/>
          </a:p>
        </p:txBody>
      </p:sp>
      <p:sp>
        <p:nvSpPr>
          <p:cNvPr id="4" name="Segnaposto contenuto 3">
            <a:extLst>
              <a:ext uri="{FF2B5EF4-FFF2-40B4-BE49-F238E27FC236}">
                <a16:creationId xmlns:a16="http://schemas.microsoft.com/office/drawing/2014/main" id="{51085FF8-056E-538B-1DA3-C257E36920E0}"/>
              </a:ext>
            </a:extLst>
          </p:cNvPr>
          <p:cNvSpPr>
            <a:spLocks noGrp="1"/>
          </p:cNvSpPr>
          <p:nvPr>
            <p:ph sz="quarter" idx="13"/>
          </p:nvPr>
        </p:nvSpPr>
        <p:spPr/>
        <p:txBody>
          <a:bodyPr/>
          <a:lstStyle/>
          <a:p>
            <a:r>
              <a:rPr lang="it-IT" dirty="0"/>
              <a:t>Arricchendo…</a:t>
            </a:r>
          </a:p>
        </p:txBody>
      </p:sp>
      <p:sp>
        <p:nvSpPr>
          <p:cNvPr id="6" name="Segnaposto numero diapositiva 5">
            <a:extLst>
              <a:ext uri="{FF2B5EF4-FFF2-40B4-BE49-F238E27FC236}">
                <a16:creationId xmlns:a16="http://schemas.microsoft.com/office/drawing/2014/main" id="{73ABFA8F-3191-67FC-B6E5-13CB6261744A}"/>
              </a:ext>
            </a:extLst>
          </p:cNvPr>
          <p:cNvSpPr>
            <a:spLocks noGrp="1"/>
          </p:cNvSpPr>
          <p:nvPr>
            <p:ph type="sldNum" sz="quarter" idx="12"/>
          </p:nvPr>
        </p:nvSpPr>
        <p:spPr/>
        <p:txBody>
          <a:bodyPr/>
          <a:lstStyle/>
          <a:p>
            <a:fld id="{CC057153-B650-4DEB-B370-79DDCFDCE934}" type="slidenum">
              <a:rPr lang="en-US" smtClean="0"/>
              <a:pPr/>
              <a:t>17</a:t>
            </a:fld>
            <a:endParaRPr lang="en-US"/>
          </a:p>
        </p:txBody>
      </p:sp>
    </p:spTree>
    <p:extLst>
      <p:ext uri="{BB962C8B-B14F-4D97-AF65-F5344CB8AC3E}">
        <p14:creationId xmlns:p14="http://schemas.microsoft.com/office/powerpoint/2010/main" val="2878185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E10FAE-A8B7-F6FE-96CF-118D8B613A3E}"/>
              </a:ext>
            </a:extLst>
          </p:cNvPr>
          <p:cNvSpPr>
            <a:spLocks noGrp="1"/>
          </p:cNvSpPr>
          <p:nvPr>
            <p:ph type="title"/>
          </p:nvPr>
        </p:nvSpPr>
        <p:spPr/>
        <p:txBody>
          <a:bodyPr/>
          <a:lstStyle/>
          <a:p>
            <a:endParaRPr lang="it-IT"/>
          </a:p>
        </p:txBody>
      </p:sp>
      <p:sp>
        <p:nvSpPr>
          <p:cNvPr id="4" name="Segnaposto contenuto 3">
            <a:extLst>
              <a:ext uri="{FF2B5EF4-FFF2-40B4-BE49-F238E27FC236}">
                <a16:creationId xmlns:a16="http://schemas.microsoft.com/office/drawing/2014/main" id="{6D42F5E1-ED36-1CBB-5817-013BF0E3640D}"/>
              </a:ext>
            </a:extLst>
          </p:cNvPr>
          <p:cNvSpPr>
            <a:spLocks noGrp="1"/>
          </p:cNvSpPr>
          <p:nvPr>
            <p:ph sz="quarter" idx="13"/>
          </p:nvPr>
        </p:nvSpPr>
        <p:spPr>
          <a:xfrm>
            <a:off x="1809345" y="2268748"/>
            <a:ext cx="8424153" cy="3954255"/>
          </a:xfrm>
        </p:spPr>
        <p:txBody>
          <a:bodyPr/>
          <a:lstStyle/>
          <a:p>
            <a:r>
              <a:rPr lang="it-IT" sz="3200" dirty="0"/>
              <a:t>Dopo aver risposto alle domande di ricerca, il catalogo arricchito diventa anche uno strumento alla portata di tutti</a:t>
            </a:r>
          </a:p>
        </p:txBody>
      </p:sp>
      <p:sp>
        <p:nvSpPr>
          <p:cNvPr id="6" name="Segnaposto numero diapositiva 5">
            <a:extLst>
              <a:ext uri="{FF2B5EF4-FFF2-40B4-BE49-F238E27FC236}">
                <a16:creationId xmlns:a16="http://schemas.microsoft.com/office/drawing/2014/main" id="{D01EF8A1-568F-09C2-847C-74B7A58CB0ED}"/>
              </a:ext>
            </a:extLst>
          </p:cNvPr>
          <p:cNvSpPr>
            <a:spLocks noGrp="1"/>
          </p:cNvSpPr>
          <p:nvPr>
            <p:ph type="sldNum" sz="quarter" idx="12"/>
          </p:nvPr>
        </p:nvSpPr>
        <p:spPr/>
        <p:txBody>
          <a:bodyPr/>
          <a:lstStyle/>
          <a:p>
            <a:fld id="{CC057153-B650-4DEB-B370-79DDCFDCE934}" type="slidenum">
              <a:rPr lang="en-US" smtClean="0"/>
              <a:pPr/>
              <a:t>18</a:t>
            </a:fld>
            <a:endParaRPr lang="en-US"/>
          </a:p>
        </p:txBody>
      </p:sp>
    </p:spTree>
    <p:extLst>
      <p:ext uri="{BB962C8B-B14F-4D97-AF65-F5344CB8AC3E}">
        <p14:creationId xmlns:p14="http://schemas.microsoft.com/office/powerpoint/2010/main" val="11236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9048F0-19D8-7B83-9530-7884A8EF9B6C}"/>
              </a:ext>
            </a:extLst>
          </p:cNvPr>
          <p:cNvSpPr>
            <a:spLocks noGrp="1"/>
          </p:cNvSpPr>
          <p:nvPr>
            <p:ph type="title"/>
          </p:nvPr>
        </p:nvSpPr>
        <p:spPr/>
        <p:txBody>
          <a:bodyPr>
            <a:noAutofit/>
          </a:bodyPr>
          <a:lstStyle/>
          <a:p>
            <a:pPr algn="ctr"/>
            <a:r>
              <a:rPr lang="it-IT" sz="3600" dirty="0"/>
              <a:t>Percorso al femminile nella biblioteca Adelphi</a:t>
            </a:r>
          </a:p>
        </p:txBody>
      </p:sp>
      <p:sp>
        <p:nvSpPr>
          <p:cNvPr id="4" name="Segnaposto contenuto 3">
            <a:extLst>
              <a:ext uri="{FF2B5EF4-FFF2-40B4-BE49-F238E27FC236}">
                <a16:creationId xmlns:a16="http://schemas.microsoft.com/office/drawing/2014/main" id="{9959A714-E41C-DFF5-0F93-200A970F1AA7}"/>
              </a:ext>
            </a:extLst>
          </p:cNvPr>
          <p:cNvSpPr>
            <a:spLocks noGrp="1"/>
          </p:cNvSpPr>
          <p:nvPr>
            <p:ph idx="1"/>
          </p:nvPr>
        </p:nvSpPr>
        <p:spPr>
          <a:xfrm>
            <a:off x="731520" y="1498018"/>
            <a:ext cx="10780776" cy="4858331"/>
          </a:xfrm>
        </p:spPr>
        <p:txBody>
          <a:bodyPr/>
          <a:lstStyle/>
          <a:p>
            <a:pPr algn="ctr"/>
            <a:r>
              <a:rPr lang="it-IT" dirty="0">
                <a:solidFill>
                  <a:srgbClr val="D14F7F"/>
                </a:solidFill>
                <a:hlinkClick r:id="rId2">
                  <a:extLst>
                    <a:ext uri="{A12FA001-AC4F-418D-AE19-62706E023703}">
                      <ahyp:hlinkClr xmlns:ahyp="http://schemas.microsoft.com/office/drawing/2018/hyperlinkcolor" val="tx"/>
                    </a:ext>
                  </a:extLst>
                </a:hlinkClick>
              </a:rPr>
              <a:t>Un percorso di lettura costruito con il catalogo arricchito…</a:t>
            </a:r>
          </a:p>
          <a:p>
            <a:pPr algn="ctr"/>
            <a:endParaRPr lang="it-IT" dirty="0">
              <a:hlinkClick r:id="rId2">
                <a:extLst>
                  <a:ext uri="{A12FA001-AC4F-418D-AE19-62706E023703}">
                    <ahyp:hlinkClr xmlns:ahyp="http://schemas.microsoft.com/office/drawing/2018/hyperlinkcolor" val="tx"/>
                  </a:ext>
                </a:extLst>
              </a:hlinkClick>
            </a:endParaRPr>
          </a:p>
          <a:p>
            <a:pPr algn="ctr"/>
            <a:r>
              <a:rPr lang="it-IT" dirty="0">
                <a:solidFill>
                  <a:srgbClr val="FF9BED"/>
                </a:solidFill>
                <a:hlinkClick r:id="rId2">
                  <a:extLst>
                    <a:ext uri="{A12FA001-AC4F-418D-AE19-62706E023703}">
                      <ahyp:hlinkClr xmlns:ahyp="http://schemas.microsoft.com/office/drawing/2018/hyperlinkcolor" val="tx"/>
                    </a:ext>
                  </a:extLst>
                </a:hlinkClick>
              </a:rPr>
              <a:t> </a:t>
            </a:r>
            <a:endParaRPr lang="it-IT" dirty="0">
              <a:solidFill>
                <a:srgbClr val="FF9BED"/>
              </a:solidFill>
            </a:endParaRPr>
          </a:p>
        </p:txBody>
      </p:sp>
      <p:sp>
        <p:nvSpPr>
          <p:cNvPr id="6" name="Segnaposto numero diapositiva 5">
            <a:extLst>
              <a:ext uri="{FF2B5EF4-FFF2-40B4-BE49-F238E27FC236}">
                <a16:creationId xmlns:a16="http://schemas.microsoft.com/office/drawing/2014/main" id="{0317C797-A8EB-3B9F-4202-E7A7AADFC8DC}"/>
              </a:ext>
            </a:extLst>
          </p:cNvPr>
          <p:cNvSpPr>
            <a:spLocks noGrp="1"/>
          </p:cNvSpPr>
          <p:nvPr>
            <p:ph type="sldNum" sz="quarter" idx="12"/>
          </p:nvPr>
        </p:nvSpPr>
        <p:spPr/>
        <p:txBody>
          <a:bodyPr/>
          <a:lstStyle/>
          <a:p>
            <a:fld id="{CC057153-B650-4DEB-B370-79DDCFDCE934}" type="slidenum">
              <a:rPr lang="en-US" smtClean="0"/>
              <a:pPr/>
              <a:t>19</a:t>
            </a:fld>
            <a:endParaRPr lang="en-US"/>
          </a:p>
        </p:txBody>
      </p:sp>
      <p:graphicFrame>
        <p:nvGraphicFramePr>
          <p:cNvPr id="7" name="Tabella 6">
            <a:extLst>
              <a:ext uri="{FF2B5EF4-FFF2-40B4-BE49-F238E27FC236}">
                <a16:creationId xmlns:a16="http://schemas.microsoft.com/office/drawing/2014/main" id="{2A1F686F-0B4C-F815-243E-29D87E69E7E6}"/>
              </a:ext>
            </a:extLst>
          </p:cNvPr>
          <p:cNvGraphicFramePr>
            <a:graphicFrameLocks noGrp="1"/>
          </p:cNvGraphicFramePr>
          <p:nvPr>
            <p:extLst>
              <p:ext uri="{D42A27DB-BD31-4B8C-83A1-F6EECF244321}">
                <p14:modId xmlns:p14="http://schemas.microsoft.com/office/powerpoint/2010/main" val="947657110"/>
              </p:ext>
            </p:extLst>
          </p:nvPr>
        </p:nvGraphicFramePr>
        <p:xfrm>
          <a:off x="622629" y="2143126"/>
          <a:ext cx="10780775" cy="3748045"/>
        </p:xfrm>
        <a:graphic>
          <a:graphicData uri="http://schemas.openxmlformats.org/drawingml/2006/table">
            <a:tbl>
              <a:tblPr firstRow="1" bandRow="1">
                <a:tableStyleId>{5C22544A-7EE6-4342-B048-85BDC9FD1C3A}</a:tableStyleId>
              </a:tblPr>
              <a:tblGrid>
                <a:gridCol w="2156155">
                  <a:extLst>
                    <a:ext uri="{9D8B030D-6E8A-4147-A177-3AD203B41FA5}">
                      <a16:colId xmlns:a16="http://schemas.microsoft.com/office/drawing/2014/main" val="1540887271"/>
                    </a:ext>
                  </a:extLst>
                </a:gridCol>
                <a:gridCol w="2156155">
                  <a:extLst>
                    <a:ext uri="{9D8B030D-6E8A-4147-A177-3AD203B41FA5}">
                      <a16:colId xmlns:a16="http://schemas.microsoft.com/office/drawing/2014/main" val="887000069"/>
                    </a:ext>
                  </a:extLst>
                </a:gridCol>
                <a:gridCol w="2156155">
                  <a:extLst>
                    <a:ext uri="{9D8B030D-6E8A-4147-A177-3AD203B41FA5}">
                      <a16:colId xmlns:a16="http://schemas.microsoft.com/office/drawing/2014/main" val="331838090"/>
                    </a:ext>
                  </a:extLst>
                </a:gridCol>
                <a:gridCol w="2156155">
                  <a:extLst>
                    <a:ext uri="{9D8B030D-6E8A-4147-A177-3AD203B41FA5}">
                      <a16:colId xmlns:a16="http://schemas.microsoft.com/office/drawing/2014/main" val="2903337580"/>
                    </a:ext>
                  </a:extLst>
                </a:gridCol>
                <a:gridCol w="2156155">
                  <a:extLst>
                    <a:ext uri="{9D8B030D-6E8A-4147-A177-3AD203B41FA5}">
                      <a16:colId xmlns:a16="http://schemas.microsoft.com/office/drawing/2014/main" val="934205775"/>
                    </a:ext>
                  </a:extLst>
                </a:gridCol>
              </a:tblGrid>
              <a:tr h="607269">
                <a:tc>
                  <a:txBody>
                    <a:bodyPr/>
                    <a:lstStyle/>
                    <a:p>
                      <a:r>
                        <a:rPr lang="it-IT" dirty="0"/>
                        <a:t>AUTRICE</a:t>
                      </a:r>
                    </a:p>
                  </a:txBody>
                  <a:tcPr>
                    <a:solidFill>
                      <a:srgbClr val="D14F7F"/>
                    </a:solidFill>
                  </a:tcPr>
                </a:tc>
                <a:tc>
                  <a:txBody>
                    <a:bodyPr/>
                    <a:lstStyle/>
                    <a:p>
                      <a:r>
                        <a:rPr lang="it-IT" dirty="0"/>
                        <a:t>VOLUMI</a:t>
                      </a:r>
                    </a:p>
                  </a:txBody>
                  <a:tcPr>
                    <a:solidFill>
                      <a:srgbClr val="D14F7F"/>
                    </a:solidFill>
                  </a:tcPr>
                </a:tc>
                <a:tc>
                  <a:txBody>
                    <a:bodyPr/>
                    <a:lstStyle/>
                    <a:p>
                      <a:r>
                        <a:rPr lang="it-IT" dirty="0"/>
                        <a:t>ANNI</a:t>
                      </a:r>
                    </a:p>
                  </a:txBody>
                  <a:tcPr>
                    <a:solidFill>
                      <a:srgbClr val="D14F7F"/>
                    </a:solidFill>
                  </a:tcPr>
                </a:tc>
                <a:tc>
                  <a:txBody>
                    <a:bodyPr/>
                    <a:lstStyle/>
                    <a:p>
                      <a:r>
                        <a:rPr lang="it-IT" dirty="0"/>
                        <a:t>GENERE PREVALENTE</a:t>
                      </a:r>
                    </a:p>
                  </a:txBody>
                  <a:tcPr>
                    <a:solidFill>
                      <a:srgbClr val="D14F7F"/>
                    </a:solidFill>
                  </a:tcPr>
                </a:tc>
                <a:tc>
                  <a:txBody>
                    <a:bodyPr/>
                    <a:lstStyle/>
                    <a:p>
                      <a:r>
                        <a:rPr lang="it-IT" dirty="0"/>
                        <a:t>EBOOK</a:t>
                      </a:r>
                      <a:r>
                        <a:rPr lang="it-IT" baseline="30000" dirty="0"/>
                        <a:t>1</a:t>
                      </a:r>
                    </a:p>
                  </a:txBody>
                  <a:tcPr>
                    <a:solidFill>
                      <a:srgbClr val="D14F7F"/>
                    </a:solidFill>
                  </a:tcPr>
                </a:tc>
                <a:extLst>
                  <a:ext uri="{0D108BD9-81ED-4DB2-BD59-A6C34878D82A}">
                    <a16:rowId xmlns:a16="http://schemas.microsoft.com/office/drawing/2014/main" val="1584401027"/>
                  </a:ext>
                </a:extLst>
              </a:tr>
              <a:tr h="443995">
                <a:tc>
                  <a:txBody>
                    <a:bodyPr/>
                    <a:lstStyle/>
                    <a:p>
                      <a:r>
                        <a:rPr lang="it-IT" dirty="0"/>
                        <a:t>Irène Némirovsky</a:t>
                      </a:r>
                    </a:p>
                  </a:txBody>
                  <a:tcPr>
                    <a:solidFill>
                      <a:srgbClr val="D1A0B4"/>
                    </a:solidFill>
                  </a:tcPr>
                </a:tc>
                <a:tc>
                  <a:txBody>
                    <a:bodyPr/>
                    <a:lstStyle/>
                    <a:p>
                      <a:r>
                        <a:rPr lang="it-IT" dirty="0"/>
                        <a:t>16</a:t>
                      </a:r>
                    </a:p>
                  </a:txBody>
                  <a:tcPr>
                    <a:solidFill>
                      <a:srgbClr val="D1A0B4"/>
                    </a:solidFill>
                  </a:tcPr>
                </a:tc>
                <a:tc>
                  <a:txBody>
                    <a:bodyPr/>
                    <a:lstStyle/>
                    <a:p>
                      <a:r>
                        <a:rPr lang="it-IT" dirty="0"/>
                        <a:t>2005-2026</a:t>
                      </a:r>
                    </a:p>
                  </a:txBody>
                  <a:tcPr>
                    <a:solidFill>
                      <a:srgbClr val="D1A0B4"/>
                    </a:solidFill>
                  </a:tcPr>
                </a:tc>
                <a:tc>
                  <a:txBody>
                    <a:bodyPr/>
                    <a:lstStyle/>
                    <a:p>
                      <a:r>
                        <a:rPr lang="it-IT" dirty="0"/>
                        <a:t>romanzo</a:t>
                      </a:r>
                    </a:p>
                  </a:txBody>
                  <a:tcPr>
                    <a:solidFill>
                      <a:srgbClr val="D1A0B4"/>
                    </a:solidFill>
                  </a:tcPr>
                </a:tc>
                <a:tc>
                  <a:txBody>
                    <a:bodyPr/>
                    <a:lstStyle/>
                    <a:p>
                      <a:r>
                        <a:rPr lang="it-IT" dirty="0"/>
                        <a:t>16/16</a:t>
                      </a:r>
                    </a:p>
                  </a:txBody>
                  <a:tcPr>
                    <a:solidFill>
                      <a:srgbClr val="D1A0B4"/>
                    </a:solidFill>
                  </a:tcPr>
                </a:tc>
                <a:extLst>
                  <a:ext uri="{0D108BD9-81ED-4DB2-BD59-A6C34878D82A}">
                    <a16:rowId xmlns:a16="http://schemas.microsoft.com/office/drawing/2014/main" val="1390689260"/>
                  </a:ext>
                </a:extLst>
              </a:tr>
              <a:tr h="443995">
                <a:tc>
                  <a:txBody>
                    <a:bodyPr/>
                    <a:lstStyle/>
                    <a:p>
                      <a:r>
                        <a:rPr lang="it-IT" dirty="0"/>
                        <a:t>Karen Blixen</a:t>
                      </a:r>
                    </a:p>
                  </a:txBody>
                  <a:tcPr>
                    <a:solidFill>
                      <a:srgbClr val="D1A0B4"/>
                    </a:solidFill>
                  </a:tcPr>
                </a:tc>
                <a:tc>
                  <a:txBody>
                    <a:bodyPr/>
                    <a:lstStyle/>
                    <a:p>
                      <a:r>
                        <a:rPr lang="it-IT" dirty="0"/>
                        <a:t>6</a:t>
                      </a:r>
                    </a:p>
                  </a:txBody>
                  <a:tcPr>
                    <a:solidFill>
                      <a:srgbClr val="D1A0B4"/>
                    </a:solidFill>
                  </a:tcPr>
                </a:tc>
                <a:tc>
                  <a:txBody>
                    <a:bodyPr/>
                    <a:lstStyle/>
                    <a:p>
                      <a:r>
                        <a:rPr lang="it-IT" dirty="0"/>
                        <a:t>1978-1990</a:t>
                      </a:r>
                    </a:p>
                  </a:txBody>
                  <a:tcPr>
                    <a:solidFill>
                      <a:srgbClr val="D1A0B4"/>
                    </a:solidFill>
                  </a:tcPr>
                </a:tc>
                <a:tc>
                  <a:txBody>
                    <a:bodyPr/>
                    <a:lstStyle/>
                    <a:p>
                      <a:r>
                        <a:rPr lang="it-IT" dirty="0"/>
                        <a:t>racconti</a:t>
                      </a:r>
                    </a:p>
                  </a:txBody>
                  <a:tcPr>
                    <a:solidFill>
                      <a:srgbClr val="D1A0B4"/>
                    </a:solidFill>
                  </a:tcPr>
                </a:tc>
                <a:tc>
                  <a:txBody>
                    <a:bodyPr/>
                    <a:lstStyle/>
                    <a:p>
                      <a:r>
                        <a:rPr lang="it-IT" dirty="0"/>
                        <a:t>0/6</a:t>
                      </a:r>
                    </a:p>
                  </a:txBody>
                  <a:tcPr>
                    <a:solidFill>
                      <a:srgbClr val="D1A0B4"/>
                    </a:solidFill>
                  </a:tcPr>
                </a:tc>
                <a:extLst>
                  <a:ext uri="{0D108BD9-81ED-4DB2-BD59-A6C34878D82A}">
                    <a16:rowId xmlns:a16="http://schemas.microsoft.com/office/drawing/2014/main" val="1142421890"/>
                  </a:ext>
                </a:extLst>
              </a:tr>
              <a:tr h="443995">
                <a:tc>
                  <a:txBody>
                    <a:bodyPr/>
                    <a:lstStyle/>
                    <a:p>
                      <a:r>
                        <a:rPr lang="it-IT" dirty="0"/>
                        <a:t>Cristina Campo</a:t>
                      </a:r>
                    </a:p>
                  </a:txBody>
                  <a:tcPr>
                    <a:solidFill>
                      <a:srgbClr val="D1A0B4"/>
                    </a:solidFill>
                  </a:tcPr>
                </a:tc>
                <a:tc>
                  <a:txBody>
                    <a:bodyPr/>
                    <a:lstStyle/>
                    <a:p>
                      <a:r>
                        <a:rPr lang="it-IT" dirty="0"/>
                        <a:t>6</a:t>
                      </a:r>
                    </a:p>
                  </a:txBody>
                  <a:tcPr>
                    <a:solidFill>
                      <a:srgbClr val="D1A0B4"/>
                    </a:solidFill>
                  </a:tcPr>
                </a:tc>
                <a:tc>
                  <a:txBody>
                    <a:bodyPr/>
                    <a:lstStyle/>
                    <a:p>
                      <a:r>
                        <a:rPr lang="it-IT" dirty="0"/>
                        <a:t>1987-2012</a:t>
                      </a:r>
                    </a:p>
                  </a:txBody>
                  <a:tcPr>
                    <a:solidFill>
                      <a:srgbClr val="D1A0B4"/>
                    </a:solidFill>
                  </a:tcPr>
                </a:tc>
                <a:tc>
                  <a:txBody>
                    <a:bodyPr/>
                    <a:lstStyle/>
                    <a:p>
                      <a:r>
                        <a:rPr lang="it-IT" dirty="0"/>
                        <a:t>saggio</a:t>
                      </a:r>
                    </a:p>
                  </a:txBody>
                  <a:tcPr>
                    <a:solidFill>
                      <a:srgbClr val="D1A0B4"/>
                    </a:solidFill>
                  </a:tcPr>
                </a:tc>
                <a:tc>
                  <a:txBody>
                    <a:bodyPr/>
                    <a:lstStyle/>
                    <a:p>
                      <a:r>
                        <a:rPr lang="it-IT" dirty="0"/>
                        <a:t>3/6</a:t>
                      </a:r>
                    </a:p>
                  </a:txBody>
                  <a:tcPr>
                    <a:solidFill>
                      <a:srgbClr val="D1A0B4"/>
                    </a:solidFill>
                  </a:tcPr>
                </a:tc>
                <a:extLst>
                  <a:ext uri="{0D108BD9-81ED-4DB2-BD59-A6C34878D82A}">
                    <a16:rowId xmlns:a16="http://schemas.microsoft.com/office/drawing/2014/main" val="924247102"/>
                  </a:ext>
                </a:extLst>
              </a:tr>
              <a:tr h="443995">
                <a:tc>
                  <a:txBody>
                    <a:bodyPr/>
                    <a:lstStyle/>
                    <a:p>
                      <a:r>
                        <a:rPr lang="it-IT" dirty="0"/>
                        <a:t>Simone Weil</a:t>
                      </a:r>
                    </a:p>
                  </a:txBody>
                  <a:tcPr>
                    <a:solidFill>
                      <a:srgbClr val="D1A0B4"/>
                    </a:solidFill>
                  </a:tcPr>
                </a:tc>
                <a:tc>
                  <a:txBody>
                    <a:bodyPr/>
                    <a:lstStyle/>
                    <a:p>
                      <a:r>
                        <a:rPr lang="it-IT" dirty="0"/>
                        <a:t>6</a:t>
                      </a:r>
                    </a:p>
                  </a:txBody>
                  <a:tcPr>
                    <a:solidFill>
                      <a:srgbClr val="D1A0B4"/>
                    </a:solidFill>
                  </a:tcPr>
                </a:tc>
                <a:tc>
                  <a:txBody>
                    <a:bodyPr/>
                    <a:lstStyle/>
                    <a:p>
                      <a:r>
                        <a:rPr lang="it-IT" dirty="0"/>
                        <a:t>1982-2014</a:t>
                      </a:r>
                    </a:p>
                  </a:txBody>
                  <a:tcPr>
                    <a:solidFill>
                      <a:srgbClr val="D1A0B4"/>
                    </a:solidFill>
                  </a:tcPr>
                </a:tc>
                <a:tc>
                  <a:txBody>
                    <a:bodyPr/>
                    <a:lstStyle/>
                    <a:p>
                      <a:r>
                        <a:rPr lang="it-IT" dirty="0"/>
                        <a:t>filosofia</a:t>
                      </a:r>
                    </a:p>
                  </a:txBody>
                  <a:tcPr>
                    <a:solidFill>
                      <a:srgbClr val="D1A0B4"/>
                    </a:solidFill>
                  </a:tcPr>
                </a:tc>
                <a:tc>
                  <a:txBody>
                    <a:bodyPr/>
                    <a:lstStyle/>
                    <a:p>
                      <a:r>
                        <a:rPr lang="it-IT" dirty="0"/>
                        <a:t>6/6</a:t>
                      </a:r>
                    </a:p>
                  </a:txBody>
                  <a:tcPr>
                    <a:solidFill>
                      <a:srgbClr val="D1A0B4"/>
                    </a:solidFill>
                  </a:tcPr>
                </a:tc>
                <a:extLst>
                  <a:ext uri="{0D108BD9-81ED-4DB2-BD59-A6C34878D82A}">
                    <a16:rowId xmlns:a16="http://schemas.microsoft.com/office/drawing/2014/main" val="271953002"/>
                  </a:ext>
                </a:extLst>
              </a:tr>
              <a:tr h="443995">
                <a:tc>
                  <a:txBody>
                    <a:bodyPr/>
                    <a:lstStyle/>
                    <a:p>
                      <a:r>
                        <a:rPr lang="it-IT" dirty="0"/>
                        <a:t>Nina </a:t>
                      </a:r>
                      <a:r>
                        <a:rPr lang="it-IT" dirty="0" err="1"/>
                        <a:t>Berberova</a:t>
                      </a:r>
                      <a:endParaRPr lang="it-IT" dirty="0"/>
                    </a:p>
                  </a:txBody>
                  <a:tcPr>
                    <a:solidFill>
                      <a:srgbClr val="D1A0B4"/>
                    </a:solidFill>
                  </a:tcPr>
                </a:tc>
                <a:tc>
                  <a:txBody>
                    <a:bodyPr/>
                    <a:lstStyle/>
                    <a:p>
                      <a:r>
                        <a:rPr lang="it-IT" dirty="0"/>
                        <a:t>3</a:t>
                      </a:r>
                    </a:p>
                  </a:txBody>
                  <a:tcPr>
                    <a:solidFill>
                      <a:srgbClr val="D1A0B4"/>
                    </a:solidFill>
                  </a:tcPr>
                </a:tc>
                <a:tc>
                  <a:txBody>
                    <a:bodyPr/>
                    <a:lstStyle/>
                    <a:p>
                      <a:r>
                        <a:rPr lang="it-IT" dirty="0"/>
                        <a:t>1989-1997</a:t>
                      </a:r>
                    </a:p>
                  </a:txBody>
                  <a:tcPr>
                    <a:solidFill>
                      <a:srgbClr val="D1A0B4"/>
                    </a:solidFill>
                  </a:tcPr>
                </a:tc>
                <a:tc>
                  <a:txBody>
                    <a:bodyPr/>
                    <a:lstStyle/>
                    <a:p>
                      <a:r>
                        <a:rPr lang="it-IT" dirty="0"/>
                        <a:t>memorie, racconti</a:t>
                      </a:r>
                    </a:p>
                  </a:txBody>
                  <a:tcPr>
                    <a:solidFill>
                      <a:srgbClr val="D1A0B4"/>
                    </a:solidFill>
                  </a:tcPr>
                </a:tc>
                <a:tc>
                  <a:txBody>
                    <a:bodyPr/>
                    <a:lstStyle/>
                    <a:p>
                      <a:r>
                        <a:rPr lang="it-IT" dirty="0"/>
                        <a:t>3/3</a:t>
                      </a:r>
                    </a:p>
                  </a:txBody>
                  <a:tcPr>
                    <a:solidFill>
                      <a:srgbClr val="D1A0B4"/>
                    </a:solidFill>
                  </a:tcPr>
                </a:tc>
                <a:extLst>
                  <a:ext uri="{0D108BD9-81ED-4DB2-BD59-A6C34878D82A}">
                    <a16:rowId xmlns:a16="http://schemas.microsoft.com/office/drawing/2014/main" val="1307840408"/>
                  </a:ext>
                </a:extLst>
              </a:tr>
              <a:tr h="443995">
                <a:tc>
                  <a:txBody>
                    <a:bodyPr/>
                    <a:lstStyle/>
                    <a:p>
                      <a:r>
                        <a:rPr lang="it-IT" dirty="0"/>
                        <a:t>Marina Cvetaeva</a:t>
                      </a:r>
                    </a:p>
                  </a:txBody>
                  <a:tcPr>
                    <a:solidFill>
                      <a:srgbClr val="D1A0B4"/>
                    </a:solidFill>
                  </a:tcPr>
                </a:tc>
                <a:tc>
                  <a:txBody>
                    <a:bodyPr/>
                    <a:lstStyle/>
                    <a:p>
                      <a:r>
                        <a:rPr lang="it-IT" dirty="0"/>
                        <a:t>3</a:t>
                      </a:r>
                    </a:p>
                  </a:txBody>
                  <a:tcPr>
                    <a:solidFill>
                      <a:srgbClr val="D1A0B4"/>
                    </a:solidFill>
                  </a:tcPr>
                </a:tc>
                <a:tc>
                  <a:txBody>
                    <a:bodyPr/>
                    <a:lstStyle/>
                    <a:p>
                      <a:r>
                        <a:rPr lang="it-IT" dirty="0"/>
                        <a:t>1984-1989</a:t>
                      </a:r>
                    </a:p>
                  </a:txBody>
                  <a:tcPr>
                    <a:solidFill>
                      <a:srgbClr val="D1A0B4"/>
                    </a:solidFill>
                  </a:tcPr>
                </a:tc>
                <a:tc>
                  <a:txBody>
                    <a:bodyPr/>
                    <a:lstStyle/>
                    <a:p>
                      <a:r>
                        <a:rPr lang="it-IT" dirty="0"/>
                        <a:t>saggio, memorie</a:t>
                      </a:r>
                    </a:p>
                  </a:txBody>
                  <a:tcPr>
                    <a:solidFill>
                      <a:srgbClr val="D1A0B4"/>
                    </a:solidFill>
                  </a:tcPr>
                </a:tc>
                <a:tc>
                  <a:txBody>
                    <a:bodyPr/>
                    <a:lstStyle/>
                    <a:p>
                      <a:r>
                        <a:rPr lang="it-IT" dirty="0"/>
                        <a:t>3/3</a:t>
                      </a:r>
                    </a:p>
                  </a:txBody>
                  <a:tcPr>
                    <a:solidFill>
                      <a:srgbClr val="D1A0B4"/>
                    </a:solidFill>
                  </a:tcPr>
                </a:tc>
                <a:extLst>
                  <a:ext uri="{0D108BD9-81ED-4DB2-BD59-A6C34878D82A}">
                    <a16:rowId xmlns:a16="http://schemas.microsoft.com/office/drawing/2014/main" val="2610497234"/>
                  </a:ext>
                </a:extLst>
              </a:tr>
              <a:tr h="443995">
                <a:tc>
                  <a:txBody>
                    <a:bodyPr/>
                    <a:lstStyle/>
                    <a:p>
                      <a:r>
                        <a:rPr lang="it-IT" dirty="0"/>
                        <a:t>Wisława Szymborska</a:t>
                      </a:r>
                    </a:p>
                  </a:txBody>
                  <a:tcPr>
                    <a:solidFill>
                      <a:srgbClr val="D1A0B4"/>
                    </a:solidFill>
                  </a:tcPr>
                </a:tc>
                <a:tc>
                  <a:txBody>
                    <a:bodyPr/>
                    <a:lstStyle/>
                    <a:p>
                      <a:r>
                        <a:rPr lang="it-IT" dirty="0"/>
                        <a:t>3</a:t>
                      </a:r>
                    </a:p>
                  </a:txBody>
                  <a:tcPr>
                    <a:solidFill>
                      <a:srgbClr val="D1A0B4"/>
                    </a:solidFill>
                  </a:tcPr>
                </a:tc>
                <a:tc>
                  <a:txBody>
                    <a:bodyPr/>
                    <a:lstStyle/>
                    <a:p>
                      <a:r>
                        <a:rPr lang="it-IT" dirty="0"/>
                        <a:t>1998-2006</a:t>
                      </a:r>
                    </a:p>
                  </a:txBody>
                  <a:tcPr>
                    <a:solidFill>
                      <a:srgbClr val="D1A0B4"/>
                    </a:solidFill>
                  </a:tcPr>
                </a:tc>
                <a:tc>
                  <a:txBody>
                    <a:bodyPr/>
                    <a:lstStyle/>
                    <a:p>
                      <a:r>
                        <a:rPr lang="it-IT" dirty="0"/>
                        <a:t>poesia</a:t>
                      </a:r>
                    </a:p>
                  </a:txBody>
                  <a:tcPr>
                    <a:solidFill>
                      <a:srgbClr val="D1A0B4"/>
                    </a:solidFill>
                  </a:tcPr>
                </a:tc>
                <a:tc>
                  <a:txBody>
                    <a:bodyPr/>
                    <a:lstStyle/>
                    <a:p>
                      <a:r>
                        <a:rPr lang="it-IT" dirty="0"/>
                        <a:t>1/3</a:t>
                      </a:r>
                    </a:p>
                  </a:txBody>
                  <a:tcPr>
                    <a:solidFill>
                      <a:srgbClr val="D1A0B4"/>
                    </a:solidFill>
                  </a:tcPr>
                </a:tc>
                <a:extLst>
                  <a:ext uri="{0D108BD9-81ED-4DB2-BD59-A6C34878D82A}">
                    <a16:rowId xmlns:a16="http://schemas.microsoft.com/office/drawing/2014/main" val="2499464272"/>
                  </a:ext>
                </a:extLst>
              </a:tr>
            </a:tbl>
          </a:graphicData>
        </a:graphic>
      </p:graphicFrame>
      <p:sp>
        <p:nvSpPr>
          <p:cNvPr id="8" name="CasellaDiTesto 7">
            <a:extLst>
              <a:ext uri="{FF2B5EF4-FFF2-40B4-BE49-F238E27FC236}">
                <a16:creationId xmlns:a16="http://schemas.microsoft.com/office/drawing/2014/main" id="{60D192C9-51E4-EA77-C056-E50CBB9419CF}"/>
              </a:ext>
            </a:extLst>
          </p:cNvPr>
          <p:cNvSpPr txBox="1"/>
          <p:nvPr/>
        </p:nvSpPr>
        <p:spPr>
          <a:xfrm>
            <a:off x="622629" y="5987018"/>
            <a:ext cx="10837851" cy="738664"/>
          </a:xfrm>
          <a:prstGeom prst="rect">
            <a:avLst/>
          </a:prstGeom>
          <a:noFill/>
        </p:spPr>
        <p:txBody>
          <a:bodyPr wrap="square" rtlCol="0">
            <a:spAutoFit/>
          </a:bodyPr>
          <a:lstStyle/>
          <a:p>
            <a:r>
              <a:rPr lang="it-IT" sz="1400" b="1" baseline="30000" dirty="0"/>
              <a:t>1</a:t>
            </a:r>
            <a:r>
              <a:rPr lang="it-IT" sz="1400" dirty="0"/>
              <a:t> </a:t>
            </a:r>
            <a:r>
              <a:rPr lang="it-IT" sz="1400" dirty="0" err="1"/>
              <a:t>eBook</a:t>
            </a:r>
            <a:r>
              <a:rPr lang="it-IT" sz="1400" dirty="0"/>
              <a:t> = edizione </a:t>
            </a:r>
            <a:r>
              <a:rPr lang="it-IT" sz="1400" dirty="0" err="1"/>
              <a:t>eBook</a:t>
            </a:r>
            <a:r>
              <a:rPr lang="it-IT" sz="1400" dirty="0"/>
              <a:t> sul sito Adelphi</a:t>
            </a:r>
          </a:p>
          <a:p>
            <a:r>
              <a:rPr lang="it-IT" sz="1400" dirty="0"/>
              <a:t>Genere prevalente: assegnato dal modello</a:t>
            </a:r>
          </a:p>
          <a:p>
            <a:r>
              <a:rPr lang="it-IT" sz="1400" dirty="0"/>
              <a:t> Autrici con almeno 3 volumi: 43 volumi su 64</a:t>
            </a:r>
          </a:p>
        </p:txBody>
      </p:sp>
    </p:spTree>
    <p:extLst>
      <p:ext uri="{BB962C8B-B14F-4D97-AF65-F5344CB8AC3E}">
        <p14:creationId xmlns:p14="http://schemas.microsoft.com/office/powerpoint/2010/main" val="1507326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0AFBE1-1A5B-D19D-62A4-9B42B28E7921}"/>
              </a:ext>
            </a:extLst>
          </p:cNvPr>
          <p:cNvSpPr>
            <a:spLocks noGrp="1"/>
          </p:cNvSpPr>
          <p:nvPr>
            <p:ph type="title"/>
          </p:nvPr>
        </p:nvSpPr>
        <p:spPr>
          <a:xfrm>
            <a:off x="731520" y="365760"/>
            <a:ext cx="10741152" cy="765616"/>
          </a:xfrm>
        </p:spPr>
        <p:txBody>
          <a:bodyPr>
            <a:normAutofit/>
          </a:bodyPr>
          <a:lstStyle/>
          <a:p>
            <a:pPr algn="ctr"/>
            <a:r>
              <a:rPr lang="it-IT" sz="4000" dirty="0"/>
              <a:t>Invece, per tutti…</a:t>
            </a:r>
          </a:p>
        </p:txBody>
      </p:sp>
      <p:pic>
        <p:nvPicPr>
          <p:cNvPr id="8" name="Segnaposto contenuto 7">
            <a:extLst>
              <a:ext uri="{FF2B5EF4-FFF2-40B4-BE49-F238E27FC236}">
                <a16:creationId xmlns:a16="http://schemas.microsoft.com/office/drawing/2014/main" id="{508F45DD-26BE-B11C-22B8-41566806C4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927" y="1584133"/>
            <a:ext cx="10780712" cy="4204177"/>
          </a:xfrm>
          <a:prstGeom prst="rect">
            <a:avLst/>
          </a:prstGeom>
        </p:spPr>
      </p:pic>
      <p:sp>
        <p:nvSpPr>
          <p:cNvPr id="6" name="Segnaposto numero diapositiva 5">
            <a:extLst>
              <a:ext uri="{FF2B5EF4-FFF2-40B4-BE49-F238E27FC236}">
                <a16:creationId xmlns:a16="http://schemas.microsoft.com/office/drawing/2014/main" id="{F460E3F7-1F6B-B8F6-41CE-1EF3B3AC0F44}"/>
              </a:ext>
            </a:extLst>
          </p:cNvPr>
          <p:cNvSpPr>
            <a:spLocks noGrp="1"/>
          </p:cNvSpPr>
          <p:nvPr>
            <p:ph type="sldNum" sz="quarter" idx="12"/>
          </p:nvPr>
        </p:nvSpPr>
        <p:spPr/>
        <p:txBody>
          <a:bodyPr/>
          <a:lstStyle/>
          <a:p>
            <a:fld id="{CC057153-B650-4DEB-B370-79DDCFDCE934}" type="slidenum">
              <a:rPr lang="en-US" smtClean="0"/>
              <a:pPr/>
              <a:t>20</a:t>
            </a:fld>
            <a:endParaRPr lang="en-US"/>
          </a:p>
        </p:txBody>
      </p:sp>
      <p:sp>
        <p:nvSpPr>
          <p:cNvPr id="9" name="CasellaDiTesto 8">
            <a:extLst>
              <a:ext uri="{FF2B5EF4-FFF2-40B4-BE49-F238E27FC236}">
                <a16:creationId xmlns:a16="http://schemas.microsoft.com/office/drawing/2014/main" id="{C8BC7566-B3A7-1CF0-58E2-4FD697F9E881}"/>
              </a:ext>
            </a:extLst>
          </p:cNvPr>
          <p:cNvSpPr txBox="1"/>
          <p:nvPr/>
        </p:nvSpPr>
        <p:spPr>
          <a:xfrm>
            <a:off x="731520" y="1131376"/>
            <a:ext cx="10923205" cy="646331"/>
          </a:xfrm>
          <a:prstGeom prst="rect">
            <a:avLst/>
          </a:prstGeom>
          <a:noFill/>
        </p:spPr>
        <p:txBody>
          <a:bodyPr wrap="square" rtlCol="0">
            <a:spAutoFit/>
          </a:bodyPr>
          <a:lstStyle/>
          <a:p>
            <a:pPr algn="ctr"/>
            <a:r>
              <a:rPr lang="it-IT" dirty="0"/>
              <a:t>«Non esiste </a:t>
            </a:r>
            <a:r>
              <a:rPr lang="it-IT" dirty="0">
                <a:solidFill>
                  <a:srgbClr val="0070C0"/>
                </a:solidFill>
                <a:hlinkClick r:id="rId3">
                  <a:extLst>
                    <a:ext uri="{A12FA001-AC4F-418D-AE19-62706E023703}">
                      <ahyp:hlinkClr xmlns:ahyp="http://schemas.microsoft.com/office/drawing/2018/hyperlinkcolor" val="tx"/>
                    </a:ext>
                  </a:extLst>
                </a:hlinkClick>
              </a:rPr>
              <a:t>libro</a:t>
            </a:r>
            <a:r>
              <a:rPr lang="it-IT" dirty="0"/>
              <a:t> così cattivo da non contenere qualcosa di buono»  </a:t>
            </a:r>
            <a:r>
              <a:rPr lang="it-IT" sz="1200" dirty="0"/>
              <a:t>cit.</a:t>
            </a:r>
            <a:r>
              <a:rPr lang="it-IT" dirty="0"/>
              <a:t> </a:t>
            </a:r>
            <a:r>
              <a:rPr lang="it-IT" sz="1200" dirty="0"/>
              <a:t>Plinio il Vecchio</a:t>
            </a:r>
            <a:endParaRPr lang="it-IT" sz="1050" baseline="30000" dirty="0"/>
          </a:p>
          <a:p>
            <a:endParaRPr lang="it-IT" dirty="0"/>
          </a:p>
        </p:txBody>
      </p:sp>
      <p:sp>
        <p:nvSpPr>
          <p:cNvPr id="10" name="CasellaDiTesto 9">
            <a:extLst>
              <a:ext uri="{FF2B5EF4-FFF2-40B4-BE49-F238E27FC236}">
                <a16:creationId xmlns:a16="http://schemas.microsoft.com/office/drawing/2014/main" id="{86565C15-CD00-A6A5-6314-0CBB6452CFD5}"/>
              </a:ext>
            </a:extLst>
          </p:cNvPr>
          <p:cNvSpPr txBox="1"/>
          <p:nvPr/>
        </p:nvSpPr>
        <p:spPr>
          <a:xfrm>
            <a:off x="731520" y="5936343"/>
            <a:ext cx="10780776" cy="369332"/>
          </a:xfrm>
          <a:prstGeom prst="rect">
            <a:avLst/>
          </a:prstGeom>
          <a:noFill/>
        </p:spPr>
        <p:txBody>
          <a:bodyPr wrap="square" rtlCol="0">
            <a:spAutoFit/>
          </a:bodyPr>
          <a:lstStyle/>
          <a:p>
            <a:pPr algn="ctr"/>
            <a:r>
              <a:rPr lang="it-IT" dirty="0"/>
              <a:t>Il catalogo consultabile: ricerca per autore, titolo, genere o tema (qui: «esilio», 34 volumi su 792)</a:t>
            </a:r>
          </a:p>
        </p:txBody>
      </p:sp>
    </p:spTree>
    <p:extLst>
      <p:ext uri="{BB962C8B-B14F-4D97-AF65-F5344CB8AC3E}">
        <p14:creationId xmlns:p14="http://schemas.microsoft.com/office/powerpoint/2010/main" val="723322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6E154C-B771-24F8-6C18-7F162CB701FF}"/>
              </a:ext>
            </a:extLst>
          </p:cNvPr>
          <p:cNvSpPr>
            <a:spLocks noGrp="1"/>
          </p:cNvSpPr>
          <p:nvPr>
            <p:ph type="title"/>
          </p:nvPr>
        </p:nvSpPr>
        <p:spPr>
          <a:xfrm>
            <a:off x="1343025" y="4672013"/>
            <a:ext cx="9458325" cy="1943100"/>
          </a:xfrm>
        </p:spPr>
        <p:txBody>
          <a:bodyPr/>
          <a:lstStyle/>
          <a:p>
            <a:r>
              <a:rPr lang="it-IT" dirty="0"/>
              <a:t>Ginevra sposato</a:t>
            </a:r>
            <a:br>
              <a:rPr lang="it-IT" dirty="0"/>
            </a:br>
            <a:br>
              <a:rPr lang="it-IT" dirty="0"/>
            </a:br>
            <a:r>
              <a:rPr lang="it-IT" dirty="0"/>
              <a:t>tecnologie dei dati e del linguaggio – prof. Ferrara</a:t>
            </a:r>
          </a:p>
        </p:txBody>
      </p:sp>
      <p:sp>
        <p:nvSpPr>
          <p:cNvPr id="4" name="Segnaposto contenuto 3">
            <a:extLst>
              <a:ext uri="{FF2B5EF4-FFF2-40B4-BE49-F238E27FC236}">
                <a16:creationId xmlns:a16="http://schemas.microsoft.com/office/drawing/2014/main" id="{10C3E06F-DC3A-B03D-CE14-5C1A69105AE0}"/>
              </a:ext>
            </a:extLst>
          </p:cNvPr>
          <p:cNvSpPr>
            <a:spLocks noGrp="1"/>
          </p:cNvSpPr>
          <p:nvPr>
            <p:ph sz="quarter" idx="13"/>
          </p:nvPr>
        </p:nvSpPr>
        <p:spPr>
          <a:xfrm>
            <a:off x="2597135" y="1744578"/>
            <a:ext cx="6997730" cy="2141622"/>
          </a:xfrm>
        </p:spPr>
        <p:txBody>
          <a:bodyPr/>
          <a:lstStyle/>
          <a:p>
            <a:r>
              <a:rPr lang="it-IT" dirty="0"/>
              <a:t>Grazie per l’attenzione</a:t>
            </a:r>
          </a:p>
        </p:txBody>
      </p:sp>
      <p:sp>
        <p:nvSpPr>
          <p:cNvPr id="6" name="Segnaposto numero diapositiva 5">
            <a:extLst>
              <a:ext uri="{FF2B5EF4-FFF2-40B4-BE49-F238E27FC236}">
                <a16:creationId xmlns:a16="http://schemas.microsoft.com/office/drawing/2014/main" id="{22563818-E4B0-1A51-749F-F94E801BA247}"/>
              </a:ext>
            </a:extLst>
          </p:cNvPr>
          <p:cNvSpPr>
            <a:spLocks noGrp="1"/>
          </p:cNvSpPr>
          <p:nvPr>
            <p:ph type="sldNum" sz="quarter" idx="12"/>
          </p:nvPr>
        </p:nvSpPr>
        <p:spPr/>
        <p:txBody>
          <a:bodyPr/>
          <a:lstStyle/>
          <a:p>
            <a:fld id="{CC057153-B650-4DEB-B370-79DDCFDCE934}" type="slidenum">
              <a:rPr lang="en-US" smtClean="0"/>
              <a:pPr/>
              <a:t>21</a:t>
            </a:fld>
            <a:endParaRPr lang="en-US"/>
          </a:p>
        </p:txBody>
      </p:sp>
    </p:spTree>
    <p:extLst>
      <p:ext uri="{BB962C8B-B14F-4D97-AF65-F5344CB8AC3E}">
        <p14:creationId xmlns:p14="http://schemas.microsoft.com/office/powerpoint/2010/main" val="3906752274"/>
      </p:ext>
    </p:extLst>
  </p:cSld>
  <p:clrMapOvr>
    <a:masterClrMapping/>
  </p:clrMapOvr>
</p:sld>
</file>

<file path=ppt/theme/theme1.xml><?xml version="1.0" encoding="utf-8"?>
<a:theme xmlns:a="http://schemas.openxmlformats.org/drawingml/2006/main" name="Arcata">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Arcata</Template>
  <TotalTime>1021</TotalTime>
  <Words>1313</Words>
  <Application>Microsoft Macintosh PowerPoint</Application>
  <PresentationFormat>Widescreen</PresentationFormat>
  <Paragraphs>198</Paragraphs>
  <Slides>21</Slides>
  <Notes>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21</vt:i4>
      </vt:variant>
    </vt:vector>
  </HeadingPairs>
  <TitlesOfParts>
    <vt:vector size="26" baseType="lpstr">
      <vt:lpstr>Aptos</vt:lpstr>
      <vt:lpstr>Arial</vt:lpstr>
      <vt:lpstr>Felix Titling</vt:lpstr>
      <vt:lpstr>Goudy Old Style</vt:lpstr>
      <vt:lpstr>Arcata</vt:lpstr>
      <vt:lpstr>Presentazione standard di PowerPoint</vt:lpstr>
      <vt:lpstr>Domanda di ricerca: </vt:lpstr>
      <vt:lpstr>LE IPOTESI</vt:lpstr>
      <vt:lpstr>MA Perché PROPRIO adelphi? </vt:lpstr>
      <vt:lpstr>costruendo…</vt:lpstr>
      <vt:lpstr>Classificazione con il modello</vt:lpstr>
      <vt:lpstr>Presentazione standard di PowerPoint</vt:lpstr>
      <vt:lpstr>I generi:  CI SI Può FIDARE DEL MODELLO?  60 libri, annotazione cieca  Primo confronto: 45%*  Dopo la revisione: 72%  Dopo il ricontrollo di 5 libri: 78%  Pesata sul catalogo: 73% Kappa di Cohen: 0,76     *Il 45% è l’unico valore pienamente indipendente</vt:lpstr>
      <vt:lpstr>Human vs llm  dove il modello ed io non siamo d’accordo?  Le righe sono il genere di riferimento (mio, post revisione).  le colonne sono il genere dato da llm.  La diagonale è l’accordo fra umano (io) e llm  Risultato:  Totale accordo:  47/60 libri  totale errori: 13</vt:lpstr>
      <vt:lpstr>I temi: più affidabili del genere, ma dipende dal criterio  2.615 temi diversi, quasi tutti unici: non si possono contare ma solo cercare e controllare a mano.  94% dei temi pertinenti (38 libri verificati)  Criterio prefissato: temi 100% contro genere 79% (p = 0,008)  Criterio severo (tutti i temi): 82% contro 79%  conclusione h1: h1 confermata, ma fragile: il vantaggio dei temi sparisce con il criterio severo</vt:lpstr>
      <vt:lpstr>Presentazione standard di PowerPoint</vt:lpstr>
      <vt:lpstr>Presenza femminile: poche autrici, molte curatrici e traduttrici  9,2% autrici (64/694 VOLUMI)  53,3% curatrici e traduttrici (sui crediti)  differenza 44 punti (IC 95% 40–48)  Controllo: contando ogni persona una sola volta, 10% contro 48%  CONCLUSIONE H2: H2 confermata, in ogni decennio. </vt:lpstr>
      <vt:lpstr>Presentazione standard di PowerPoint</vt:lpstr>
      <vt:lpstr>la distanza dall’autore cresce, di circa 7 anni a decennio   658 libri su 792 (quelli con anno di edizione e data di nascita dell’autore)  +7,1 anni di distanza ogni 10 anni di catalogo (IC 95% 5,4–8,9)  correlazione di Spearman 0,46 (IC 95% 0,40–0,52)  CONCLUSIONE H3: la tendenza c’è ed è moderata</vt:lpstr>
      <vt:lpstr>Validazione e limiti</vt:lpstr>
      <vt:lpstr>risposte alla domanda di ricerca </vt:lpstr>
      <vt:lpstr>Presentazione standard di PowerPoint</vt:lpstr>
      <vt:lpstr>Presentazione standard di PowerPoint</vt:lpstr>
      <vt:lpstr>Percorso al femminile nella biblioteca Adelphi</vt:lpstr>
      <vt:lpstr>Invece, per tutti…</vt:lpstr>
      <vt:lpstr>Ginevra sposato  tecnologie dei dati e del linguaggio – prof. Ferrara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Ginevra Chiara Francesca Sposato</dc:creator>
  <cp:lastModifiedBy>Ginevra Chiara Francesca Sposato</cp:lastModifiedBy>
  <cp:revision>132</cp:revision>
  <dcterms:created xsi:type="dcterms:W3CDTF">2026-10-15T14:15:17Z</dcterms:created>
  <dcterms:modified xsi:type="dcterms:W3CDTF">2026-10-20T13:11:48Z</dcterms:modified>
</cp:coreProperties>
</file>